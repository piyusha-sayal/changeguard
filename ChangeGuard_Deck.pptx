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8" r:id="rId3"/>
    <p:sldId id="259" r:id="rId4"/>
    <p:sldId id="260" r:id="rId5"/>
    <p:sldId id="261" r:id="rId6"/>
    <p:sldId id="262" r:id="rId7"/>
    <p:sldId id="264"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900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0:00–0:12. Introduce ChangeGuard as a project recovery control tower that connects impact analysis, human authority and verifiable execution.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0:35–0:53. Frame the general governance problem: project evidence, calculations, human approval and delivery work become disconnected.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0:53–1:15. Cover six actions and the human boundary. Do not imply the AI’s conversational approval is authoritative.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1:15–1:47. Explain Copilot Studio Standard agent and seven tools, Power Automate ten hardened flows, Dataverse eleven tables and alternate keys, Power Apps reviewer. The service principal writes while audit attributes human approval.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1:47–2:09. Explain one illustrative case only. Gearbox slips fifteen working days and threatens external commitment. AIR option simulated at $8,200 preserves the customer date. This is synthetic and no booking occurred.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2:09–2:46. Switch to the actual saved Copilot conversation and Power Apps Review form. Show the approved and executed record, then the real flow runs and audit. This is a walkthrough of a completed case.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2:55–3:00. Thank the judges. End on ChangeGuard and the agent, flows, human approval principle.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5"/>
        </a:solidFill>
        <a:effectLst/>
      </p:bgPr>
    </p:bg>
    <p:spTree>
      <p:nvGrpSpPr>
        <p:cNvPr id="1" name=""/>
        <p:cNvGrpSpPr/>
        <p:nvPr/>
      </p:nvGrpSpPr>
      <p:grpSpPr>
        <a:xfrm>
          <a:off x="0" y="0"/>
          <a:ext cx="0" cy="0"/>
          <a:chOff x="0" y="0"/>
          <a:chExt cx="0" cy="0"/>
        </a:xfrm>
      </p:grpSpPr>
      <p:sp>
        <p:nvSpPr>
          <p:cNvPr id="2" name="Shape 0"/>
          <p:cNvSpPr/>
          <p:nvPr/>
        </p:nvSpPr>
        <p:spPr>
          <a:xfrm>
            <a:off x="9372600" y="-502920"/>
            <a:ext cx="3749040" cy="3840480"/>
          </a:xfrm>
          <a:prstGeom prst="roundRect">
            <a:avLst>
              <a:gd name="adj" fmla="val 46341"/>
            </a:avLst>
          </a:prstGeom>
          <a:solidFill>
            <a:srgbClr val="1A2C53"/>
          </a:solidFill>
          <a:ln w="12700">
            <a:solidFill>
              <a:srgbClr val="1A2C53">
                <a:alpha val="0"/>
              </a:srgbClr>
            </a:solidFill>
            <a:prstDash val="solid"/>
          </a:ln>
        </p:spPr>
      </p:sp>
      <p:sp>
        <p:nvSpPr>
          <p:cNvPr id="3" name="Shape 1"/>
          <p:cNvSpPr/>
          <p:nvPr/>
        </p:nvSpPr>
        <p:spPr>
          <a:xfrm>
            <a:off x="10241280" y="2103120"/>
            <a:ext cx="2834640" cy="2926080"/>
          </a:xfrm>
          <a:prstGeom prst="roundRect">
            <a:avLst>
              <a:gd name="adj" fmla="val 41935"/>
            </a:avLst>
          </a:prstGeom>
          <a:solidFill>
            <a:srgbClr val="24345D"/>
          </a:solidFill>
          <a:ln w="12700">
            <a:solidFill>
              <a:srgbClr val="24345D">
                <a:alpha val="0"/>
              </a:srgbClr>
            </a:solidFill>
            <a:prstDash val="solid"/>
          </a:ln>
        </p:spPr>
      </p:sp>
      <p:sp>
        <p:nvSpPr>
          <p:cNvPr id="4" name="Text 2"/>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CADCFC"/>
                </a:solidFill>
                <a:latin typeface="Aptos" pitchFamily="34" charset="0"/>
                <a:ea typeface="Aptos" pitchFamily="34" charset="-122"/>
                <a:cs typeface="Aptos" pitchFamily="34" charset="-120"/>
              </a:rPr>
              <a:t>CHANGEGUARD   /   MICROSOFT AGENT-A-THON   /   LEVEL 2</a:t>
            </a:r>
            <a:endParaRPr lang="en-US" sz="900" dirty="0"/>
          </a:p>
        </p:txBody>
      </p:sp>
      <p:sp>
        <p:nvSpPr>
          <p:cNvPr id="5" name="Text 3"/>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E8A33D"/>
                </a:solidFill>
                <a:latin typeface="Aptos" pitchFamily="34" charset="0"/>
                <a:ea typeface="Aptos" pitchFamily="34" charset="-122"/>
                <a:cs typeface="Aptos" pitchFamily="34" charset="-120"/>
              </a:rPr>
              <a:t>PROJECT RECOVERY CONTROL TOWER</a:t>
            </a:r>
            <a:endParaRPr lang="en-US" sz="1000" dirty="0"/>
          </a:p>
        </p:txBody>
      </p:sp>
      <p:sp>
        <p:nvSpPr>
          <p:cNvPr id="6" name="Text 4"/>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CADCFC"/>
                </a:solidFill>
                <a:latin typeface="Aptos" pitchFamily="34" charset="0"/>
                <a:ea typeface="Aptos" pitchFamily="34" charset="-122"/>
                <a:cs typeface="Aptos" pitchFamily="34" charset="-120"/>
              </a:rPr>
              <a:t>01  /  09</a:t>
            </a:r>
            <a:endParaRPr lang="en-US" sz="900" dirty="0"/>
          </a:p>
        </p:txBody>
      </p:sp>
      <p:sp>
        <p:nvSpPr>
          <p:cNvPr id="7" name="Shape 5"/>
          <p:cNvSpPr/>
          <p:nvPr/>
        </p:nvSpPr>
        <p:spPr>
          <a:xfrm>
            <a:off x="676656" y="1243584"/>
            <a:ext cx="2871216" cy="356616"/>
          </a:xfrm>
          <a:prstGeom prst="roundRect">
            <a:avLst>
              <a:gd name="adj" fmla="val 43590"/>
            </a:avLst>
          </a:prstGeom>
          <a:solidFill>
            <a:srgbClr val="263456"/>
          </a:solidFill>
          <a:ln w="12700">
            <a:solidFill>
              <a:srgbClr val="263456">
                <a:alpha val="0"/>
              </a:srgbClr>
            </a:solidFill>
            <a:prstDash val="solid"/>
          </a:ln>
        </p:spPr>
      </p:sp>
      <p:sp>
        <p:nvSpPr>
          <p:cNvPr id="8" name="Text 6"/>
          <p:cNvSpPr/>
          <p:nvPr/>
        </p:nvSpPr>
        <p:spPr>
          <a:xfrm>
            <a:off x="804672" y="1312164"/>
            <a:ext cx="2624328" cy="201168"/>
          </a:xfrm>
          <a:prstGeom prst="rect">
            <a:avLst/>
          </a:prstGeom>
          <a:noFill/>
          <a:ln/>
        </p:spPr>
        <p:txBody>
          <a:bodyPr wrap="square" lIns="0" tIns="0" rIns="0" bIns="0" rtlCol="0" anchor="ctr">
            <a:normAutofit/>
          </a:bodyPr>
          <a:lstStyle/>
          <a:p>
            <a:pPr marL="0" indent="0" algn="l">
              <a:buNone/>
            </a:pPr>
            <a:r>
              <a:rPr lang="en-US" sz="1000" b="1" dirty="0">
                <a:solidFill>
                  <a:srgbClr val="E8A33D"/>
                </a:solidFill>
                <a:latin typeface="Aptos" pitchFamily="34" charset="0"/>
                <a:ea typeface="Aptos" pitchFamily="34" charset="-122"/>
                <a:cs typeface="Aptos" pitchFamily="34" charset="-120"/>
              </a:rPr>
              <a:t>AI-ASSISTED CHANGE CONTROL</a:t>
            </a:r>
            <a:endParaRPr lang="en-US" sz="1000" dirty="0"/>
          </a:p>
        </p:txBody>
      </p:sp>
      <p:sp>
        <p:nvSpPr>
          <p:cNvPr id="9" name="Text 7"/>
          <p:cNvSpPr/>
          <p:nvPr/>
        </p:nvSpPr>
        <p:spPr>
          <a:xfrm>
            <a:off x="640080" y="1828800"/>
            <a:ext cx="8686800" cy="941832"/>
          </a:xfrm>
          <a:prstGeom prst="rect">
            <a:avLst/>
          </a:prstGeom>
          <a:noFill/>
          <a:ln/>
        </p:spPr>
        <p:txBody>
          <a:bodyPr wrap="square" lIns="0" tIns="0" rIns="0" bIns="0" rtlCol="0" anchor="ctr">
            <a:normAutofit/>
          </a:bodyPr>
          <a:lstStyle/>
          <a:p>
            <a:pPr marL="0" indent="0" algn="l">
              <a:buNone/>
            </a:pPr>
            <a:r>
              <a:rPr lang="en-US" sz="5800" b="1" dirty="0">
                <a:solidFill>
                  <a:srgbClr val="FFFFFF"/>
                </a:solidFill>
                <a:latin typeface="Georgia" pitchFamily="34" charset="0"/>
                <a:ea typeface="Georgia" pitchFamily="34" charset="-122"/>
                <a:cs typeface="Georgia" pitchFamily="34" charset="-120"/>
              </a:rPr>
              <a:t>ChangeGuard</a:t>
            </a:r>
            <a:endParaRPr lang="en-US" sz="5800" dirty="0"/>
          </a:p>
        </p:txBody>
      </p:sp>
      <p:sp>
        <p:nvSpPr>
          <p:cNvPr id="10" name="Text 8"/>
          <p:cNvSpPr/>
          <p:nvPr/>
        </p:nvSpPr>
        <p:spPr>
          <a:xfrm>
            <a:off x="704088" y="2889504"/>
            <a:ext cx="8001000" cy="1179576"/>
          </a:xfrm>
          <a:prstGeom prst="rect">
            <a:avLst/>
          </a:prstGeom>
          <a:noFill/>
          <a:ln/>
        </p:spPr>
        <p:txBody>
          <a:bodyPr wrap="square" lIns="0" tIns="0" rIns="0" bIns="0" rtlCol="0" anchor="ctr">
            <a:normAutofit/>
          </a:bodyPr>
          <a:lstStyle/>
          <a:p>
            <a:pPr marL="0" indent="0" algn="l">
              <a:buNone/>
            </a:pPr>
            <a:r>
              <a:rPr lang="en-US" sz="2700" b="1" dirty="0">
                <a:solidFill>
                  <a:srgbClr val="CADCFC"/>
                </a:solidFill>
                <a:latin typeface="Aptos" pitchFamily="34" charset="0"/>
                <a:ea typeface="Aptos" pitchFamily="34" charset="-122"/>
                <a:cs typeface="Aptos" pitchFamily="34" charset="-120"/>
              </a:rPr>
              <a:t>From a slipping milestone to a</a:t>
            </a:r>
            <a:endParaRPr lang="en-US" sz="2700" dirty="0"/>
          </a:p>
          <a:p>
            <a:pPr marL="0" indent="0" algn="l">
              <a:buNone/>
            </a:pPr>
            <a:r>
              <a:rPr lang="en-US" sz="2700" b="1" dirty="0">
                <a:solidFill>
                  <a:srgbClr val="CADCFC"/>
                </a:solidFill>
                <a:latin typeface="Aptos" pitchFamily="34" charset="0"/>
                <a:ea typeface="Aptos" pitchFamily="34" charset="-122"/>
                <a:cs typeface="Aptos" pitchFamily="34" charset="-120"/>
              </a:rPr>
              <a:t>reviewed, traceable recovery.</a:t>
            </a:r>
            <a:endParaRPr lang="en-US" sz="2700" dirty="0"/>
          </a:p>
        </p:txBody>
      </p:sp>
      <p:sp>
        <p:nvSpPr>
          <p:cNvPr id="11" name="Shape 9"/>
          <p:cNvSpPr/>
          <p:nvPr/>
        </p:nvSpPr>
        <p:spPr>
          <a:xfrm>
            <a:off x="694944" y="4919472"/>
            <a:ext cx="8138160" cy="694944"/>
          </a:xfrm>
          <a:prstGeom prst="roundRect">
            <a:avLst>
              <a:gd name="adj" fmla="val 18421"/>
            </a:avLst>
          </a:prstGeom>
          <a:solidFill>
            <a:srgbClr val="263456"/>
          </a:solidFill>
          <a:ln w="12700">
            <a:solidFill>
              <a:srgbClr val="263456">
                <a:alpha val="0"/>
              </a:srgbClr>
            </a:solidFill>
            <a:prstDash val="solid"/>
          </a:ln>
        </p:spPr>
      </p:sp>
      <p:sp>
        <p:nvSpPr>
          <p:cNvPr id="12" name="Text 10"/>
          <p:cNvSpPr/>
          <p:nvPr/>
        </p:nvSpPr>
        <p:spPr>
          <a:xfrm>
            <a:off x="941832" y="5129784"/>
            <a:ext cx="7662672" cy="265176"/>
          </a:xfrm>
          <a:prstGeom prst="rect">
            <a:avLst/>
          </a:prstGeom>
          <a:noFill/>
          <a:ln/>
        </p:spPr>
        <p:txBody>
          <a:bodyPr wrap="square" lIns="0" tIns="0" rIns="0" bIns="0" rtlCol="0" anchor="ctr">
            <a:normAutofit/>
          </a:bodyPr>
          <a:lstStyle/>
          <a:p>
            <a:pPr marL="0" indent="0" algn="l">
              <a:buNone/>
            </a:pPr>
            <a:r>
              <a:rPr lang="en-US" sz="1600" b="1" dirty="0">
                <a:solidFill>
                  <a:srgbClr val="FFFFFF"/>
                </a:solidFill>
                <a:latin typeface="Aptos" pitchFamily="34" charset="0"/>
                <a:ea typeface="Aptos" pitchFamily="34" charset="-122"/>
                <a:cs typeface="Aptos" pitchFamily="34" charset="-120"/>
              </a:rPr>
              <a:t>THE AGENT TALKS.  THE FLOWS DECIDE.  A PERSON APPROVES.</a:t>
            </a:r>
            <a:endParaRPr lang="en-US" sz="1600" dirty="0"/>
          </a:p>
        </p:txBody>
      </p:sp>
      <p:sp>
        <p:nvSpPr>
          <p:cNvPr id="13" name="Text 11"/>
          <p:cNvSpPr/>
          <p:nvPr/>
        </p:nvSpPr>
        <p:spPr>
          <a:xfrm>
            <a:off x="722376" y="5980176"/>
            <a:ext cx="10058400" cy="274320"/>
          </a:xfrm>
          <a:prstGeom prst="rect">
            <a:avLst/>
          </a:prstGeom>
          <a:noFill/>
          <a:ln/>
        </p:spPr>
        <p:txBody>
          <a:bodyPr wrap="square" lIns="0" tIns="0" rIns="0" bIns="0" rtlCol="0" anchor="ctr">
            <a:normAutofit/>
          </a:bodyPr>
          <a:lstStyle/>
          <a:p>
            <a:pPr marL="0" indent="0" algn="l">
              <a:buNone/>
            </a:pPr>
            <a:r>
              <a:rPr lang="en-US" sz="1200" dirty="0">
                <a:solidFill>
                  <a:srgbClr val="CADCFC"/>
                </a:solidFill>
                <a:latin typeface="Aptos" pitchFamily="34" charset="0"/>
                <a:ea typeface="Aptos" pitchFamily="34" charset="-122"/>
                <a:cs typeface="Aptos" pitchFamily="34" charset="-120"/>
              </a:rPr>
              <a:t>7 agent tools    •    10 hardened flows    •    11 Dataverse tables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64748D"/>
                </a:solidFill>
                <a:latin typeface="Aptos" pitchFamily="34" charset="0"/>
                <a:ea typeface="Aptos" pitchFamily="34" charset="-122"/>
                <a:cs typeface="Aptos" pitchFamily="34" charset="-120"/>
              </a:rPr>
              <a:t>CHANGEGUARD   /   MICROSOFT AGENT-A-THON   /   LEVEL 2</a:t>
            </a:r>
            <a:endParaRPr lang="en-US" sz="900" dirty="0"/>
          </a:p>
        </p:txBody>
      </p:sp>
      <p:sp>
        <p:nvSpPr>
          <p:cNvPr id="3" name="Text 1"/>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1E2761"/>
                </a:solidFill>
                <a:latin typeface="Aptos" pitchFamily="34" charset="0"/>
                <a:ea typeface="Aptos" pitchFamily="34" charset="-122"/>
                <a:cs typeface="Aptos" pitchFamily="34" charset="-120"/>
              </a:rPr>
              <a:t>THE PROBLEM</a:t>
            </a:r>
            <a:endParaRPr lang="en-US" sz="1000" dirty="0"/>
          </a:p>
        </p:txBody>
      </p:sp>
      <p:sp>
        <p:nvSpPr>
          <p:cNvPr id="4" name="Text 2"/>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64748D"/>
                </a:solidFill>
                <a:latin typeface="Aptos" pitchFamily="34" charset="0"/>
                <a:ea typeface="Aptos" pitchFamily="34" charset="-122"/>
                <a:cs typeface="Aptos" pitchFamily="34" charset="-120"/>
              </a:rPr>
              <a:t>03  /  09</a:t>
            </a:r>
            <a:endParaRPr lang="en-US" sz="900" dirty="0"/>
          </a:p>
        </p:txBody>
      </p:sp>
      <p:sp>
        <p:nvSpPr>
          <p:cNvPr id="5" name="Text 3"/>
          <p:cNvSpPr/>
          <p:nvPr/>
        </p:nvSpPr>
        <p:spPr>
          <a:xfrm>
            <a:off x="667512" y="1115568"/>
            <a:ext cx="10927080" cy="667512"/>
          </a:xfrm>
          <a:prstGeom prst="rect">
            <a:avLst/>
          </a:prstGeom>
          <a:noFill/>
          <a:ln/>
        </p:spPr>
        <p:txBody>
          <a:bodyPr wrap="square" lIns="0" tIns="0" rIns="0" bIns="0" rtlCol="0" anchor="ctr">
            <a:normAutofit/>
          </a:bodyPr>
          <a:lstStyle/>
          <a:p>
            <a:pPr marL="0" indent="0" algn="l">
              <a:buNone/>
            </a:pPr>
            <a:r>
              <a:rPr lang="en-US" sz="3300" b="1" dirty="0">
                <a:solidFill>
                  <a:srgbClr val="1E2761"/>
                </a:solidFill>
                <a:latin typeface="Georgia" pitchFamily="34" charset="0"/>
                <a:ea typeface="Georgia" pitchFamily="34" charset="-122"/>
                <a:cs typeface="Georgia" pitchFamily="34" charset="-120"/>
              </a:rPr>
              <a:t>A date change creates more than a schedule problem</a:t>
            </a:r>
            <a:endParaRPr lang="en-US" sz="3300" dirty="0"/>
          </a:p>
        </p:txBody>
      </p:sp>
      <p:sp>
        <p:nvSpPr>
          <p:cNvPr id="6" name="Text 4"/>
          <p:cNvSpPr/>
          <p:nvPr/>
        </p:nvSpPr>
        <p:spPr>
          <a:xfrm>
            <a:off x="685800" y="1837944"/>
            <a:ext cx="10780776" cy="365760"/>
          </a:xfrm>
          <a:prstGeom prst="rect">
            <a:avLst/>
          </a:prstGeom>
          <a:noFill/>
          <a:ln/>
        </p:spPr>
        <p:txBody>
          <a:bodyPr wrap="square" lIns="0" tIns="0" rIns="0" bIns="0" rtlCol="0" anchor="ctr">
            <a:normAutofit/>
          </a:bodyPr>
          <a:lstStyle/>
          <a:p>
            <a:pPr marL="0" indent="0" algn="l">
              <a:buNone/>
            </a:pPr>
            <a:r>
              <a:rPr lang="en-US" sz="1450" dirty="0">
                <a:solidFill>
                  <a:srgbClr val="64748D"/>
                </a:solidFill>
                <a:latin typeface="Aptos" pitchFamily="34" charset="0"/>
                <a:ea typeface="Aptos" pitchFamily="34" charset="-122"/>
                <a:cs typeface="Aptos" pitchFamily="34" charset="-120"/>
              </a:rPr>
              <a:t>Teams need to preserve why a change happened, who accepted it, and what was actually done.</a:t>
            </a:r>
            <a:endParaRPr lang="en-US" sz="1450" dirty="0"/>
          </a:p>
        </p:txBody>
      </p:sp>
      <p:sp>
        <p:nvSpPr>
          <p:cNvPr id="7" name="Shape 5"/>
          <p:cNvSpPr/>
          <p:nvPr/>
        </p:nvSpPr>
        <p:spPr>
          <a:xfrm>
            <a:off x="685800" y="2386584"/>
            <a:ext cx="4983480" cy="2624328"/>
          </a:xfrm>
          <a:prstGeom prst="roundRect">
            <a:avLst>
              <a:gd name="adj" fmla="val 5923"/>
            </a:avLst>
          </a:prstGeom>
          <a:solidFill>
            <a:srgbClr val="FFFFFF"/>
          </a:solidFill>
          <a:ln w="12700">
            <a:solidFill>
              <a:srgbClr val="FFFFFF">
                <a:alpha val="0"/>
              </a:srgbClr>
            </a:solidFill>
            <a:prstDash val="solid"/>
          </a:ln>
        </p:spPr>
      </p:sp>
      <p:sp>
        <p:nvSpPr>
          <p:cNvPr id="8" name="Text 6"/>
          <p:cNvSpPr/>
          <p:nvPr/>
        </p:nvSpPr>
        <p:spPr>
          <a:xfrm>
            <a:off x="960120" y="2697480"/>
            <a:ext cx="3200400" cy="219456"/>
          </a:xfrm>
          <a:prstGeom prst="rect">
            <a:avLst/>
          </a:prstGeom>
          <a:noFill/>
          <a:ln/>
        </p:spPr>
        <p:txBody>
          <a:bodyPr wrap="square" lIns="0" tIns="0" rIns="0" bIns="0" rtlCol="0" anchor="ctr">
            <a:normAutofit/>
          </a:bodyPr>
          <a:lstStyle/>
          <a:p>
            <a:pPr marL="0" indent="0" algn="l">
              <a:buNone/>
            </a:pPr>
            <a:r>
              <a:rPr lang="en-US" sz="1100" b="1" dirty="0">
                <a:solidFill>
                  <a:srgbClr val="64748D"/>
                </a:solidFill>
                <a:latin typeface="Aptos" pitchFamily="34" charset="0"/>
                <a:ea typeface="Aptos" pitchFamily="34" charset="-122"/>
                <a:cs typeface="Aptos" pitchFamily="34" charset="-120"/>
              </a:rPr>
              <a:t>WHAT ARRIVES</a:t>
            </a:r>
            <a:endParaRPr lang="en-US" sz="1100" dirty="0"/>
          </a:p>
        </p:txBody>
      </p:sp>
      <p:sp>
        <p:nvSpPr>
          <p:cNvPr id="9" name="Text 7"/>
          <p:cNvSpPr/>
          <p:nvPr/>
        </p:nvSpPr>
        <p:spPr>
          <a:xfrm>
            <a:off x="969264" y="3136392"/>
            <a:ext cx="4434840" cy="1024128"/>
          </a:xfrm>
          <a:prstGeom prst="rect">
            <a:avLst/>
          </a:prstGeom>
          <a:noFill/>
          <a:ln/>
        </p:spPr>
        <p:txBody>
          <a:bodyPr wrap="square" lIns="0" tIns="0" rIns="0" bIns="0" rtlCol="0" anchor="ctr">
            <a:normAutofit/>
          </a:bodyPr>
          <a:lstStyle/>
          <a:p>
            <a:pPr marL="0" indent="0" algn="l">
              <a:buNone/>
            </a:pPr>
            <a:r>
              <a:rPr lang="en-US" sz="2900" b="1" dirty="0">
                <a:solidFill>
                  <a:srgbClr val="1E2761"/>
                </a:solidFill>
                <a:latin typeface="Georgia" pitchFamily="34" charset="0"/>
                <a:ea typeface="Georgia" pitchFamily="34" charset="-122"/>
                <a:cs typeface="Georgia" pitchFamily="34" charset="-120"/>
              </a:rPr>
              <a:t>“Our supplier moved</a:t>
            </a:r>
            <a:endParaRPr lang="en-US" sz="2900" dirty="0"/>
          </a:p>
          <a:p>
            <a:pPr marL="0" indent="0" algn="l">
              <a:buNone/>
            </a:pPr>
            <a:r>
              <a:rPr lang="en-US" sz="2900" b="1" dirty="0">
                <a:solidFill>
                  <a:srgbClr val="1E2761"/>
                </a:solidFill>
                <a:latin typeface="Georgia" pitchFamily="34" charset="0"/>
                <a:ea typeface="Georgia" pitchFamily="34" charset="-122"/>
                <a:cs typeface="Georgia" pitchFamily="34" charset="-120"/>
              </a:rPr>
              <a:t>the delivery date.”</a:t>
            </a:r>
            <a:endParaRPr lang="en-US" sz="2900" dirty="0"/>
          </a:p>
        </p:txBody>
      </p:sp>
      <p:sp>
        <p:nvSpPr>
          <p:cNvPr id="10" name="Shape 8"/>
          <p:cNvSpPr/>
          <p:nvPr/>
        </p:nvSpPr>
        <p:spPr>
          <a:xfrm>
            <a:off x="978408" y="4443984"/>
            <a:ext cx="4297680" cy="356616"/>
          </a:xfrm>
          <a:prstGeom prst="roundRect">
            <a:avLst>
              <a:gd name="adj" fmla="val 43590"/>
            </a:avLst>
          </a:prstGeom>
          <a:solidFill>
            <a:srgbClr val="E8EEFA"/>
          </a:solidFill>
          <a:ln w="12700">
            <a:solidFill>
              <a:srgbClr val="E8EEFA">
                <a:alpha val="0"/>
              </a:srgbClr>
            </a:solidFill>
            <a:prstDash val="solid"/>
          </a:ln>
        </p:spPr>
      </p:sp>
      <p:sp>
        <p:nvSpPr>
          <p:cNvPr id="11" name="Text 9"/>
          <p:cNvSpPr/>
          <p:nvPr/>
        </p:nvSpPr>
        <p:spPr>
          <a:xfrm>
            <a:off x="1106424" y="4512564"/>
            <a:ext cx="4050792" cy="201168"/>
          </a:xfrm>
          <a:prstGeom prst="rect">
            <a:avLst/>
          </a:prstGeom>
          <a:noFill/>
          <a:ln/>
        </p:spPr>
        <p:txBody>
          <a:bodyPr wrap="square" lIns="0" tIns="0" rIns="0" bIns="0" rtlCol="0" anchor="ctr">
            <a:normAutofit/>
          </a:bodyPr>
          <a:lstStyle/>
          <a:p>
            <a:pPr marL="0" indent="0" algn="l">
              <a:buNone/>
            </a:pPr>
            <a:r>
              <a:rPr lang="en-US" sz="1000" b="1" dirty="0">
                <a:solidFill>
                  <a:srgbClr val="1E2761"/>
                </a:solidFill>
                <a:latin typeface="Aptos" pitchFamily="34" charset="0"/>
                <a:ea typeface="Aptos" pitchFamily="34" charset="-122"/>
                <a:cs typeface="Aptos" pitchFamily="34" charset="-120"/>
              </a:rPr>
              <a:t>An informal message, not a controlled decision</a:t>
            </a:r>
            <a:endParaRPr lang="en-US" sz="1000" dirty="0"/>
          </a:p>
        </p:txBody>
      </p:sp>
      <p:sp>
        <p:nvSpPr>
          <p:cNvPr id="12" name="Shape 10"/>
          <p:cNvSpPr/>
          <p:nvPr/>
        </p:nvSpPr>
        <p:spPr>
          <a:xfrm>
            <a:off x="5961888" y="2450592"/>
            <a:ext cx="5532120" cy="740664"/>
          </a:xfrm>
          <a:prstGeom prst="roundRect">
            <a:avLst>
              <a:gd name="adj" fmla="val 20988"/>
            </a:avLst>
          </a:prstGeom>
          <a:solidFill>
            <a:srgbClr val="FFFFFF"/>
          </a:solidFill>
          <a:ln w="12700">
            <a:solidFill>
              <a:srgbClr val="FFFFFF">
                <a:alpha val="0"/>
              </a:srgbClr>
            </a:solidFill>
            <a:prstDash val="solid"/>
          </a:ln>
        </p:spPr>
      </p:sp>
      <p:sp>
        <p:nvSpPr>
          <p:cNvPr id="13" name="Text 11"/>
          <p:cNvSpPr/>
          <p:nvPr/>
        </p:nvSpPr>
        <p:spPr>
          <a:xfrm>
            <a:off x="6208776" y="2606040"/>
            <a:ext cx="1325880" cy="228600"/>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IMPACT</a:t>
            </a:r>
            <a:endParaRPr lang="en-US" sz="1100" dirty="0"/>
          </a:p>
        </p:txBody>
      </p:sp>
      <p:sp>
        <p:nvSpPr>
          <p:cNvPr id="14" name="Text 12"/>
          <p:cNvSpPr/>
          <p:nvPr/>
        </p:nvSpPr>
        <p:spPr>
          <a:xfrm>
            <a:off x="7488936" y="2596896"/>
            <a:ext cx="3685032" cy="374904"/>
          </a:xfrm>
          <a:prstGeom prst="rect">
            <a:avLst/>
          </a:prstGeom>
          <a:noFill/>
          <a:ln/>
        </p:spPr>
        <p:txBody>
          <a:bodyPr wrap="square" lIns="0" tIns="0" rIns="0" bIns="0" rtlCol="0" anchor="ctr">
            <a:normAutofit/>
          </a:bodyPr>
          <a:lstStyle/>
          <a:p>
            <a:pPr marL="0" indent="0" algn="l">
              <a:buNone/>
            </a:pPr>
            <a:r>
              <a:rPr lang="en-US" sz="1500" dirty="0">
                <a:solidFill>
                  <a:srgbClr val="192744"/>
                </a:solidFill>
                <a:latin typeface="Aptos" pitchFamily="34" charset="0"/>
                <a:ea typeface="Aptos" pitchFamily="34" charset="-122"/>
                <a:cs typeface="Aptos" pitchFamily="34" charset="-120"/>
              </a:rPr>
              <a:t>Which downstream commitments move?</a:t>
            </a:r>
            <a:endParaRPr lang="en-US" sz="1500" dirty="0"/>
          </a:p>
        </p:txBody>
      </p:sp>
      <p:sp>
        <p:nvSpPr>
          <p:cNvPr id="15" name="Shape 13"/>
          <p:cNvSpPr/>
          <p:nvPr/>
        </p:nvSpPr>
        <p:spPr>
          <a:xfrm>
            <a:off x="5961888" y="3328416"/>
            <a:ext cx="5532120" cy="740664"/>
          </a:xfrm>
          <a:prstGeom prst="roundRect">
            <a:avLst>
              <a:gd name="adj" fmla="val 20988"/>
            </a:avLst>
          </a:prstGeom>
          <a:solidFill>
            <a:srgbClr val="FFFFFF"/>
          </a:solidFill>
          <a:ln w="12700">
            <a:solidFill>
              <a:srgbClr val="FFFFFF">
                <a:alpha val="0"/>
              </a:srgbClr>
            </a:solidFill>
            <a:prstDash val="solid"/>
          </a:ln>
        </p:spPr>
      </p:sp>
      <p:sp>
        <p:nvSpPr>
          <p:cNvPr id="16" name="Text 14"/>
          <p:cNvSpPr/>
          <p:nvPr/>
        </p:nvSpPr>
        <p:spPr>
          <a:xfrm>
            <a:off x="6208776" y="3483864"/>
            <a:ext cx="1325880" cy="228600"/>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AUTHORITY</a:t>
            </a:r>
            <a:endParaRPr lang="en-US" sz="1100" dirty="0"/>
          </a:p>
        </p:txBody>
      </p:sp>
      <p:sp>
        <p:nvSpPr>
          <p:cNvPr id="17" name="Text 15"/>
          <p:cNvSpPr/>
          <p:nvPr/>
        </p:nvSpPr>
        <p:spPr>
          <a:xfrm>
            <a:off x="7488936" y="3474720"/>
            <a:ext cx="3685032" cy="374904"/>
          </a:xfrm>
          <a:prstGeom prst="rect">
            <a:avLst/>
          </a:prstGeom>
          <a:noFill/>
          <a:ln/>
        </p:spPr>
        <p:txBody>
          <a:bodyPr wrap="square" lIns="0" tIns="0" rIns="0" bIns="0" rtlCol="0" anchor="ctr">
            <a:normAutofit/>
          </a:bodyPr>
          <a:lstStyle/>
          <a:p>
            <a:pPr marL="0" indent="0" algn="l">
              <a:buNone/>
            </a:pPr>
            <a:r>
              <a:rPr lang="en-US" sz="1500" dirty="0">
                <a:solidFill>
                  <a:srgbClr val="192744"/>
                </a:solidFill>
                <a:latin typeface="Aptos" pitchFamily="34" charset="0"/>
                <a:ea typeface="Aptos" pitchFamily="34" charset="-122"/>
                <a:cs typeface="Aptos" pitchFamily="34" charset="-120"/>
              </a:rPr>
              <a:t>Who is allowed to approve recovery?</a:t>
            </a:r>
            <a:endParaRPr lang="en-US" sz="1500" dirty="0"/>
          </a:p>
        </p:txBody>
      </p:sp>
      <p:sp>
        <p:nvSpPr>
          <p:cNvPr id="18" name="Shape 16"/>
          <p:cNvSpPr/>
          <p:nvPr/>
        </p:nvSpPr>
        <p:spPr>
          <a:xfrm>
            <a:off x="5961888" y="4206240"/>
            <a:ext cx="5532120" cy="740664"/>
          </a:xfrm>
          <a:prstGeom prst="roundRect">
            <a:avLst>
              <a:gd name="adj" fmla="val 20988"/>
            </a:avLst>
          </a:prstGeom>
          <a:solidFill>
            <a:srgbClr val="FFFFFF"/>
          </a:solidFill>
          <a:ln w="12700">
            <a:solidFill>
              <a:srgbClr val="FFFFFF">
                <a:alpha val="0"/>
              </a:srgbClr>
            </a:solidFill>
            <a:prstDash val="solid"/>
          </a:ln>
        </p:spPr>
      </p:sp>
      <p:sp>
        <p:nvSpPr>
          <p:cNvPr id="19" name="Text 17"/>
          <p:cNvSpPr/>
          <p:nvPr/>
        </p:nvSpPr>
        <p:spPr>
          <a:xfrm>
            <a:off x="6208776" y="4361688"/>
            <a:ext cx="1325880" cy="228600"/>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EVIDENCE</a:t>
            </a:r>
            <a:endParaRPr lang="en-US" sz="1100" dirty="0"/>
          </a:p>
        </p:txBody>
      </p:sp>
      <p:sp>
        <p:nvSpPr>
          <p:cNvPr id="20" name="Text 18"/>
          <p:cNvSpPr/>
          <p:nvPr/>
        </p:nvSpPr>
        <p:spPr>
          <a:xfrm>
            <a:off x="7488936" y="4352544"/>
            <a:ext cx="3685032" cy="374904"/>
          </a:xfrm>
          <a:prstGeom prst="rect">
            <a:avLst/>
          </a:prstGeom>
          <a:noFill/>
          <a:ln/>
        </p:spPr>
        <p:txBody>
          <a:bodyPr wrap="square" lIns="0" tIns="0" rIns="0" bIns="0" rtlCol="0" anchor="ctr">
            <a:normAutofit/>
          </a:bodyPr>
          <a:lstStyle/>
          <a:p>
            <a:pPr marL="0" indent="0" algn="l">
              <a:buNone/>
            </a:pPr>
            <a:r>
              <a:rPr lang="en-US" sz="1500" dirty="0">
                <a:solidFill>
                  <a:srgbClr val="192744"/>
                </a:solidFill>
                <a:latin typeface="Aptos" pitchFamily="34" charset="0"/>
                <a:ea typeface="Aptos" pitchFamily="34" charset="-122"/>
                <a:cs typeface="Aptos" pitchFamily="34" charset="-120"/>
              </a:rPr>
              <a:t>What is the execution based on?</a:t>
            </a:r>
            <a:endParaRPr lang="en-US" sz="1500" dirty="0"/>
          </a:p>
        </p:txBody>
      </p:sp>
      <p:sp>
        <p:nvSpPr>
          <p:cNvPr id="21" name="Text 19"/>
          <p:cNvSpPr/>
          <p:nvPr/>
        </p:nvSpPr>
        <p:spPr>
          <a:xfrm>
            <a:off x="713232" y="5815584"/>
            <a:ext cx="10698480" cy="402336"/>
          </a:xfrm>
          <a:prstGeom prst="rect">
            <a:avLst/>
          </a:prstGeom>
          <a:noFill/>
          <a:ln/>
        </p:spPr>
        <p:txBody>
          <a:bodyPr wrap="square" lIns="0" tIns="0" rIns="0" bIns="0" rtlCol="0" anchor="ctr">
            <a:normAutofit/>
          </a:bodyPr>
          <a:lstStyle/>
          <a:p>
            <a:pPr marL="0" indent="0" algn="l">
              <a:buNone/>
            </a:pPr>
            <a:r>
              <a:rPr lang="en-US" sz="1700" b="1" dirty="0">
                <a:solidFill>
                  <a:srgbClr val="1E2761"/>
                </a:solidFill>
                <a:latin typeface="Aptos" pitchFamily="34" charset="0"/>
                <a:ea typeface="Aptos" pitchFamily="34" charset="-122"/>
                <a:cs typeface="Aptos" pitchFamily="34" charset="-120"/>
              </a:rPr>
              <a:t>Without a connected record, reasoning, approval and follow-through can become disconnected.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64748D"/>
                </a:solidFill>
                <a:latin typeface="Aptos" pitchFamily="34" charset="0"/>
                <a:ea typeface="Aptos" pitchFamily="34" charset="-122"/>
                <a:cs typeface="Aptos" pitchFamily="34" charset="-120"/>
              </a:rPr>
              <a:t>CHANGEGUARD   /   MICROSOFT AGENT-A-THON   /   LEVEL 2</a:t>
            </a:r>
            <a:endParaRPr lang="en-US" sz="900" dirty="0"/>
          </a:p>
        </p:txBody>
      </p:sp>
      <p:sp>
        <p:nvSpPr>
          <p:cNvPr id="3" name="Text 1"/>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1E2761"/>
                </a:solidFill>
                <a:latin typeface="Aptos" pitchFamily="34" charset="0"/>
                <a:ea typeface="Aptos" pitchFamily="34" charset="-122"/>
                <a:cs typeface="Aptos" pitchFamily="34" charset="-120"/>
              </a:rPr>
              <a:t>HOW THE SOLUTION WORKS</a:t>
            </a:r>
            <a:endParaRPr lang="en-US" sz="1000" dirty="0"/>
          </a:p>
        </p:txBody>
      </p:sp>
      <p:sp>
        <p:nvSpPr>
          <p:cNvPr id="4" name="Text 2"/>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64748D"/>
                </a:solidFill>
                <a:latin typeface="Aptos" pitchFamily="34" charset="0"/>
                <a:ea typeface="Aptos" pitchFamily="34" charset="-122"/>
                <a:cs typeface="Aptos" pitchFamily="34" charset="-120"/>
              </a:rPr>
              <a:t>04  /  09</a:t>
            </a:r>
            <a:endParaRPr lang="en-US" sz="900" dirty="0"/>
          </a:p>
        </p:txBody>
      </p:sp>
      <p:sp>
        <p:nvSpPr>
          <p:cNvPr id="5" name="Text 3"/>
          <p:cNvSpPr/>
          <p:nvPr/>
        </p:nvSpPr>
        <p:spPr>
          <a:xfrm>
            <a:off x="667512" y="1115568"/>
            <a:ext cx="10927080" cy="667512"/>
          </a:xfrm>
          <a:prstGeom prst="rect">
            <a:avLst/>
          </a:prstGeom>
          <a:noFill/>
          <a:ln/>
        </p:spPr>
        <p:txBody>
          <a:bodyPr wrap="square" lIns="0" tIns="0" rIns="0" bIns="0" rtlCol="0" anchor="ctr">
            <a:normAutofit/>
          </a:bodyPr>
          <a:lstStyle/>
          <a:p>
            <a:pPr marL="0" indent="0" algn="l">
              <a:buNone/>
            </a:pPr>
            <a:r>
              <a:rPr lang="en-US" sz="3300" b="1" dirty="0">
                <a:solidFill>
                  <a:srgbClr val="1E2761"/>
                </a:solidFill>
                <a:latin typeface="Georgia" pitchFamily="34" charset="0"/>
                <a:ea typeface="Georgia" pitchFamily="34" charset="-122"/>
                <a:cs typeface="Georgia" pitchFamily="34" charset="-120"/>
              </a:rPr>
              <a:t>From report to recovery, with a control at every handoff</a:t>
            </a:r>
            <a:endParaRPr lang="en-US" sz="3300" dirty="0"/>
          </a:p>
        </p:txBody>
      </p:sp>
      <p:sp>
        <p:nvSpPr>
          <p:cNvPr id="6" name="Text 4"/>
          <p:cNvSpPr/>
          <p:nvPr/>
        </p:nvSpPr>
        <p:spPr>
          <a:xfrm>
            <a:off x="685800" y="1837944"/>
            <a:ext cx="10780776" cy="365760"/>
          </a:xfrm>
          <a:prstGeom prst="rect">
            <a:avLst/>
          </a:prstGeom>
          <a:noFill/>
          <a:ln/>
        </p:spPr>
        <p:txBody>
          <a:bodyPr wrap="square" lIns="0" tIns="0" rIns="0" bIns="0" rtlCol="0" anchor="ctr">
            <a:normAutofit/>
          </a:bodyPr>
          <a:lstStyle/>
          <a:p>
            <a:pPr marL="0" indent="0" algn="l">
              <a:buNone/>
            </a:pPr>
            <a:r>
              <a:rPr lang="en-US" sz="1450" dirty="0">
                <a:solidFill>
                  <a:srgbClr val="64748D"/>
                </a:solidFill>
                <a:latin typeface="Aptos" pitchFamily="34" charset="0"/>
                <a:ea typeface="Aptos" pitchFamily="34" charset="-122"/>
                <a:cs typeface="Aptos" pitchFamily="34" charset="-120"/>
              </a:rPr>
              <a:t>Copilot explains; deterministic flows calculate and check; the reviewer has the decision.</a:t>
            </a:r>
            <a:endParaRPr lang="en-US" sz="1450" dirty="0"/>
          </a:p>
        </p:txBody>
      </p:sp>
      <p:sp>
        <p:nvSpPr>
          <p:cNvPr id="7" name="Shape 5"/>
          <p:cNvSpPr/>
          <p:nvPr/>
        </p:nvSpPr>
        <p:spPr>
          <a:xfrm>
            <a:off x="676656" y="2423160"/>
            <a:ext cx="3621024" cy="1216152"/>
          </a:xfrm>
          <a:prstGeom prst="roundRect">
            <a:avLst>
              <a:gd name="adj" fmla="val 12782"/>
            </a:avLst>
          </a:prstGeom>
          <a:solidFill>
            <a:srgbClr val="FFFFFF"/>
          </a:solidFill>
          <a:ln w="12700">
            <a:solidFill>
              <a:srgbClr val="FFFFFF">
                <a:alpha val="0"/>
              </a:srgbClr>
            </a:solidFill>
            <a:prstDash val="solid"/>
          </a:ln>
        </p:spPr>
      </p:sp>
      <p:sp>
        <p:nvSpPr>
          <p:cNvPr id="8" name="Shape 6"/>
          <p:cNvSpPr/>
          <p:nvPr/>
        </p:nvSpPr>
        <p:spPr>
          <a:xfrm>
            <a:off x="832104" y="2596896"/>
            <a:ext cx="393192" cy="393192"/>
          </a:xfrm>
          <a:prstGeom prst="ellipse">
            <a:avLst/>
          </a:prstGeom>
          <a:solidFill>
            <a:srgbClr val="CADCFC"/>
          </a:solidFill>
          <a:ln w="12700">
            <a:solidFill>
              <a:srgbClr val="333333">
                <a:alpha val="0"/>
              </a:srgbClr>
            </a:solidFill>
            <a:prstDash val="solid"/>
          </a:ln>
        </p:spPr>
      </p:sp>
      <p:sp>
        <p:nvSpPr>
          <p:cNvPr id="9" name="Text 7"/>
          <p:cNvSpPr/>
          <p:nvPr/>
        </p:nvSpPr>
        <p:spPr>
          <a:xfrm>
            <a:off x="832104" y="267279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1335024" y="256032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BASELINE</a:t>
            </a:r>
            <a:endParaRPr lang="en-US" sz="1600" dirty="0"/>
          </a:p>
        </p:txBody>
      </p:sp>
      <p:sp>
        <p:nvSpPr>
          <p:cNvPr id="11" name="Text 9"/>
          <p:cNvSpPr/>
          <p:nvPr/>
        </p:nvSpPr>
        <p:spPr>
          <a:xfrm>
            <a:off x="1335024" y="299923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Dataverse project facts</a:t>
            </a:r>
            <a:endParaRPr lang="en-US" sz="1300" dirty="0"/>
          </a:p>
        </p:txBody>
      </p:sp>
      <p:sp>
        <p:nvSpPr>
          <p:cNvPr id="12" name="Shape 10"/>
          <p:cNvSpPr/>
          <p:nvPr/>
        </p:nvSpPr>
        <p:spPr>
          <a:xfrm>
            <a:off x="4517136" y="2423160"/>
            <a:ext cx="3621024" cy="1216152"/>
          </a:xfrm>
          <a:prstGeom prst="roundRect">
            <a:avLst>
              <a:gd name="adj" fmla="val 12782"/>
            </a:avLst>
          </a:prstGeom>
          <a:solidFill>
            <a:srgbClr val="FFFFFF"/>
          </a:solidFill>
          <a:ln w="12700">
            <a:solidFill>
              <a:srgbClr val="FFFFFF">
                <a:alpha val="0"/>
              </a:srgbClr>
            </a:solidFill>
            <a:prstDash val="solid"/>
          </a:ln>
        </p:spPr>
      </p:sp>
      <p:sp>
        <p:nvSpPr>
          <p:cNvPr id="13" name="Shape 11"/>
          <p:cNvSpPr/>
          <p:nvPr/>
        </p:nvSpPr>
        <p:spPr>
          <a:xfrm>
            <a:off x="4672584" y="2596896"/>
            <a:ext cx="393192" cy="393192"/>
          </a:xfrm>
          <a:prstGeom prst="ellipse">
            <a:avLst/>
          </a:prstGeom>
          <a:solidFill>
            <a:srgbClr val="CADCFC"/>
          </a:solidFill>
          <a:ln w="12700">
            <a:solidFill>
              <a:srgbClr val="333333">
                <a:alpha val="0"/>
              </a:srgbClr>
            </a:solidFill>
            <a:prstDash val="solid"/>
          </a:ln>
        </p:spPr>
      </p:sp>
      <p:sp>
        <p:nvSpPr>
          <p:cNvPr id="14" name="Text 12"/>
          <p:cNvSpPr/>
          <p:nvPr/>
        </p:nvSpPr>
        <p:spPr>
          <a:xfrm>
            <a:off x="4672584" y="267279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02</a:t>
            </a:r>
            <a:endParaRPr lang="en-US" sz="1100" dirty="0"/>
          </a:p>
        </p:txBody>
      </p:sp>
      <p:sp>
        <p:nvSpPr>
          <p:cNvPr id="15" name="Text 13"/>
          <p:cNvSpPr/>
          <p:nvPr/>
        </p:nvSpPr>
        <p:spPr>
          <a:xfrm>
            <a:off x="5175504" y="256032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ASSESS</a:t>
            </a:r>
            <a:endParaRPr lang="en-US" sz="1600" dirty="0"/>
          </a:p>
        </p:txBody>
      </p:sp>
      <p:sp>
        <p:nvSpPr>
          <p:cNvPr id="16" name="Text 14"/>
          <p:cNvSpPr/>
          <p:nvPr/>
        </p:nvSpPr>
        <p:spPr>
          <a:xfrm>
            <a:off x="5175504" y="299923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Calendar + dependencies</a:t>
            </a:r>
            <a:endParaRPr lang="en-US" sz="1300" dirty="0"/>
          </a:p>
        </p:txBody>
      </p:sp>
      <p:sp>
        <p:nvSpPr>
          <p:cNvPr id="17" name="Shape 15"/>
          <p:cNvSpPr/>
          <p:nvPr/>
        </p:nvSpPr>
        <p:spPr>
          <a:xfrm>
            <a:off x="8357616" y="2423160"/>
            <a:ext cx="3621024" cy="1216152"/>
          </a:xfrm>
          <a:prstGeom prst="roundRect">
            <a:avLst>
              <a:gd name="adj" fmla="val 12782"/>
            </a:avLst>
          </a:prstGeom>
          <a:solidFill>
            <a:srgbClr val="FFFFFF"/>
          </a:solidFill>
          <a:ln w="12700">
            <a:solidFill>
              <a:srgbClr val="FFFFFF">
                <a:alpha val="0"/>
              </a:srgbClr>
            </a:solidFill>
            <a:prstDash val="solid"/>
          </a:ln>
        </p:spPr>
      </p:sp>
      <p:sp>
        <p:nvSpPr>
          <p:cNvPr id="18" name="Shape 16"/>
          <p:cNvSpPr/>
          <p:nvPr/>
        </p:nvSpPr>
        <p:spPr>
          <a:xfrm>
            <a:off x="8513064" y="2596896"/>
            <a:ext cx="393192" cy="393192"/>
          </a:xfrm>
          <a:prstGeom prst="ellipse">
            <a:avLst/>
          </a:prstGeom>
          <a:solidFill>
            <a:srgbClr val="CADCFC"/>
          </a:solidFill>
          <a:ln w="12700">
            <a:solidFill>
              <a:srgbClr val="333333">
                <a:alpha val="0"/>
              </a:srgbClr>
            </a:solidFill>
            <a:prstDash val="solid"/>
          </a:ln>
        </p:spPr>
      </p:sp>
      <p:sp>
        <p:nvSpPr>
          <p:cNvPr id="19" name="Text 17"/>
          <p:cNvSpPr/>
          <p:nvPr/>
        </p:nvSpPr>
        <p:spPr>
          <a:xfrm>
            <a:off x="8513064" y="267279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03</a:t>
            </a:r>
            <a:endParaRPr lang="en-US" sz="1100" dirty="0"/>
          </a:p>
        </p:txBody>
      </p:sp>
      <p:sp>
        <p:nvSpPr>
          <p:cNvPr id="20" name="Text 18"/>
          <p:cNvSpPr/>
          <p:nvPr/>
        </p:nvSpPr>
        <p:spPr>
          <a:xfrm>
            <a:off x="9015984" y="256032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COMPARE</a:t>
            </a:r>
            <a:endParaRPr lang="en-US" sz="1600" dirty="0"/>
          </a:p>
        </p:txBody>
      </p:sp>
      <p:sp>
        <p:nvSpPr>
          <p:cNvPr id="21" name="Text 19"/>
          <p:cNvSpPr/>
          <p:nvPr/>
        </p:nvSpPr>
        <p:spPr>
          <a:xfrm>
            <a:off x="9015984" y="299923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Eligibility + simulation</a:t>
            </a:r>
            <a:endParaRPr lang="en-US" sz="1300" dirty="0"/>
          </a:p>
        </p:txBody>
      </p:sp>
      <p:sp>
        <p:nvSpPr>
          <p:cNvPr id="22" name="Shape 20"/>
          <p:cNvSpPr/>
          <p:nvPr/>
        </p:nvSpPr>
        <p:spPr>
          <a:xfrm>
            <a:off x="676656" y="3840480"/>
            <a:ext cx="3621024" cy="1216152"/>
          </a:xfrm>
          <a:prstGeom prst="roundRect">
            <a:avLst>
              <a:gd name="adj" fmla="val 12782"/>
            </a:avLst>
          </a:prstGeom>
          <a:solidFill>
            <a:srgbClr val="FFFFFF"/>
          </a:solidFill>
          <a:ln w="12700">
            <a:solidFill>
              <a:srgbClr val="FFFFFF">
                <a:alpha val="0"/>
              </a:srgbClr>
            </a:solidFill>
            <a:prstDash val="solid"/>
          </a:ln>
        </p:spPr>
      </p:sp>
      <p:sp>
        <p:nvSpPr>
          <p:cNvPr id="23" name="Shape 21"/>
          <p:cNvSpPr/>
          <p:nvPr/>
        </p:nvSpPr>
        <p:spPr>
          <a:xfrm>
            <a:off x="832104" y="4014216"/>
            <a:ext cx="393192" cy="393192"/>
          </a:xfrm>
          <a:prstGeom prst="ellipse">
            <a:avLst/>
          </a:prstGeom>
          <a:solidFill>
            <a:srgbClr val="CADCFC"/>
          </a:solidFill>
          <a:ln w="12700">
            <a:solidFill>
              <a:srgbClr val="333333">
                <a:alpha val="0"/>
              </a:srgbClr>
            </a:solidFill>
            <a:prstDash val="solid"/>
          </a:ln>
        </p:spPr>
      </p:sp>
      <p:sp>
        <p:nvSpPr>
          <p:cNvPr id="24" name="Text 22"/>
          <p:cNvSpPr/>
          <p:nvPr/>
        </p:nvSpPr>
        <p:spPr>
          <a:xfrm>
            <a:off x="832104" y="409011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04</a:t>
            </a:r>
            <a:endParaRPr lang="en-US" sz="1100" dirty="0"/>
          </a:p>
        </p:txBody>
      </p:sp>
      <p:sp>
        <p:nvSpPr>
          <p:cNvPr id="25" name="Text 23"/>
          <p:cNvSpPr/>
          <p:nvPr/>
        </p:nvSpPr>
        <p:spPr>
          <a:xfrm>
            <a:off x="1335024" y="397764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SAVE</a:t>
            </a:r>
            <a:endParaRPr lang="en-US" sz="1600" dirty="0"/>
          </a:p>
        </p:txBody>
      </p:sp>
      <p:sp>
        <p:nvSpPr>
          <p:cNvPr id="26" name="Text 24"/>
          <p:cNvSpPr/>
          <p:nvPr/>
        </p:nvSpPr>
        <p:spPr>
          <a:xfrm>
            <a:off x="1335024" y="441655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Confirmed request + audit</a:t>
            </a:r>
            <a:endParaRPr lang="en-US" sz="1300" dirty="0"/>
          </a:p>
        </p:txBody>
      </p:sp>
      <p:sp>
        <p:nvSpPr>
          <p:cNvPr id="27" name="Shape 25"/>
          <p:cNvSpPr/>
          <p:nvPr/>
        </p:nvSpPr>
        <p:spPr>
          <a:xfrm>
            <a:off x="4517136" y="3840480"/>
            <a:ext cx="3621024" cy="1216152"/>
          </a:xfrm>
          <a:prstGeom prst="roundRect">
            <a:avLst>
              <a:gd name="adj" fmla="val 12782"/>
            </a:avLst>
          </a:prstGeom>
          <a:solidFill>
            <a:srgbClr val="FFFFFF"/>
          </a:solidFill>
          <a:ln w="12700">
            <a:solidFill>
              <a:srgbClr val="FFFFFF">
                <a:alpha val="0"/>
              </a:srgbClr>
            </a:solidFill>
            <a:prstDash val="solid"/>
          </a:ln>
        </p:spPr>
      </p:sp>
      <p:sp>
        <p:nvSpPr>
          <p:cNvPr id="28" name="Shape 26"/>
          <p:cNvSpPr/>
          <p:nvPr/>
        </p:nvSpPr>
        <p:spPr>
          <a:xfrm>
            <a:off x="4672584" y="4014216"/>
            <a:ext cx="393192" cy="393192"/>
          </a:xfrm>
          <a:prstGeom prst="ellipse">
            <a:avLst/>
          </a:prstGeom>
          <a:solidFill>
            <a:srgbClr val="CADCFC"/>
          </a:solidFill>
          <a:ln w="12700">
            <a:solidFill>
              <a:srgbClr val="333333">
                <a:alpha val="0"/>
              </a:srgbClr>
            </a:solidFill>
            <a:prstDash val="solid"/>
          </a:ln>
        </p:spPr>
      </p:sp>
      <p:sp>
        <p:nvSpPr>
          <p:cNvPr id="29" name="Text 27"/>
          <p:cNvSpPr/>
          <p:nvPr/>
        </p:nvSpPr>
        <p:spPr>
          <a:xfrm>
            <a:off x="4672584" y="409011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05</a:t>
            </a:r>
            <a:endParaRPr lang="en-US" sz="1100" dirty="0"/>
          </a:p>
        </p:txBody>
      </p:sp>
      <p:sp>
        <p:nvSpPr>
          <p:cNvPr id="30" name="Text 28"/>
          <p:cNvSpPr/>
          <p:nvPr/>
        </p:nvSpPr>
        <p:spPr>
          <a:xfrm>
            <a:off x="5175504" y="397764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APPROVE</a:t>
            </a:r>
            <a:endParaRPr lang="en-US" sz="1600" dirty="0"/>
          </a:p>
        </p:txBody>
      </p:sp>
      <p:sp>
        <p:nvSpPr>
          <p:cNvPr id="31" name="Text 29"/>
          <p:cNvSpPr/>
          <p:nvPr/>
        </p:nvSpPr>
        <p:spPr>
          <a:xfrm>
            <a:off x="5175504" y="441655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Human decision in Power Apps</a:t>
            </a:r>
            <a:endParaRPr lang="en-US" sz="1300" dirty="0"/>
          </a:p>
        </p:txBody>
      </p:sp>
      <p:sp>
        <p:nvSpPr>
          <p:cNvPr id="32" name="Shape 30"/>
          <p:cNvSpPr/>
          <p:nvPr/>
        </p:nvSpPr>
        <p:spPr>
          <a:xfrm>
            <a:off x="8357616" y="3840480"/>
            <a:ext cx="3621024" cy="1216152"/>
          </a:xfrm>
          <a:prstGeom prst="roundRect">
            <a:avLst>
              <a:gd name="adj" fmla="val 12782"/>
            </a:avLst>
          </a:prstGeom>
          <a:solidFill>
            <a:srgbClr val="FFFFFF"/>
          </a:solidFill>
          <a:ln w="12700">
            <a:solidFill>
              <a:srgbClr val="FFFFFF">
                <a:alpha val="0"/>
              </a:srgbClr>
            </a:solidFill>
            <a:prstDash val="solid"/>
          </a:ln>
        </p:spPr>
      </p:sp>
      <p:sp>
        <p:nvSpPr>
          <p:cNvPr id="33" name="Shape 31"/>
          <p:cNvSpPr/>
          <p:nvPr/>
        </p:nvSpPr>
        <p:spPr>
          <a:xfrm>
            <a:off x="8513064" y="4014216"/>
            <a:ext cx="393192" cy="393192"/>
          </a:xfrm>
          <a:prstGeom prst="ellipse">
            <a:avLst/>
          </a:prstGeom>
          <a:solidFill>
            <a:srgbClr val="CADCFC"/>
          </a:solidFill>
          <a:ln w="12700">
            <a:solidFill>
              <a:srgbClr val="333333">
                <a:alpha val="0"/>
              </a:srgbClr>
            </a:solidFill>
            <a:prstDash val="solid"/>
          </a:ln>
        </p:spPr>
      </p:sp>
      <p:sp>
        <p:nvSpPr>
          <p:cNvPr id="34" name="Text 32"/>
          <p:cNvSpPr/>
          <p:nvPr/>
        </p:nvSpPr>
        <p:spPr>
          <a:xfrm>
            <a:off x="8513064" y="4090111"/>
            <a:ext cx="393192" cy="228600"/>
          </a:xfrm>
          <a:prstGeom prst="rect">
            <a:avLst/>
          </a:prstGeom>
          <a:noFill/>
          <a:ln/>
        </p:spPr>
        <p:txBody>
          <a:bodyPr wrap="square" lIns="0" tIns="0" rIns="0" bIns="0" rtlCol="0" anchor="ctr">
            <a:normAutofit/>
          </a:bodyPr>
          <a:lstStyle/>
          <a:p>
            <a:pPr marL="0" indent="0" algn="ctr">
              <a:buNone/>
            </a:pPr>
            <a:r>
              <a:rPr lang="en-US" sz="1100" b="1" dirty="0">
                <a:solidFill>
                  <a:srgbClr val="1E2761"/>
                </a:solidFill>
                <a:latin typeface="Aptos" pitchFamily="34" charset="0"/>
                <a:ea typeface="Aptos" pitchFamily="34" charset="-122"/>
                <a:cs typeface="Aptos" pitchFamily="34" charset="-120"/>
              </a:rPr>
              <a:t>06</a:t>
            </a:r>
            <a:endParaRPr lang="en-US" sz="1100" dirty="0"/>
          </a:p>
        </p:txBody>
      </p:sp>
      <p:sp>
        <p:nvSpPr>
          <p:cNvPr id="35" name="Text 33"/>
          <p:cNvSpPr/>
          <p:nvPr/>
        </p:nvSpPr>
        <p:spPr>
          <a:xfrm>
            <a:off x="9015984" y="3977640"/>
            <a:ext cx="2779776" cy="301752"/>
          </a:xfrm>
          <a:prstGeom prst="rect">
            <a:avLst/>
          </a:prstGeom>
          <a:noFill/>
          <a:ln/>
        </p:spPr>
        <p:txBody>
          <a:bodyPr wrap="square" lIns="0" tIns="0" rIns="0" bIns="0" rtlCol="0" anchor="ctr">
            <a:normAutofit/>
          </a:bodyPr>
          <a:lstStyle/>
          <a:p>
            <a:pPr marL="0" indent="0" algn="l">
              <a:buNone/>
            </a:pPr>
            <a:r>
              <a:rPr lang="en-US" sz="1600" b="1" dirty="0">
                <a:solidFill>
                  <a:srgbClr val="1E2761"/>
                </a:solidFill>
                <a:latin typeface="Aptos" pitchFamily="34" charset="0"/>
                <a:ea typeface="Aptos" pitchFamily="34" charset="-122"/>
                <a:cs typeface="Aptos" pitchFamily="34" charset="-120"/>
              </a:rPr>
              <a:t>EXECUTE</a:t>
            </a:r>
            <a:endParaRPr lang="en-US" sz="1600" dirty="0"/>
          </a:p>
        </p:txBody>
      </p:sp>
      <p:sp>
        <p:nvSpPr>
          <p:cNvPr id="36" name="Text 34"/>
          <p:cNvSpPr/>
          <p:nvPr/>
        </p:nvSpPr>
        <p:spPr>
          <a:xfrm>
            <a:off x="9015984" y="4416552"/>
            <a:ext cx="2770632" cy="374904"/>
          </a:xfrm>
          <a:prstGeom prst="rect">
            <a:avLst/>
          </a:prstGeom>
          <a:noFill/>
          <a:ln/>
        </p:spPr>
        <p:txBody>
          <a:bodyPr wrap="square" lIns="0" tIns="0" rIns="0" bIns="0" rtlCol="0" anchor="ctr">
            <a:normAutofit/>
          </a:bodyPr>
          <a:lstStyle/>
          <a:p>
            <a:pPr marL="0" indent="0" algn="l">
              <a:buNone/>
            </a:pPr>
            <a:r>
              <a:rPr lang="en-US" sz="1300" dirty="0">
                <a:solidFill>
                  <a:srgbClr val="192744"/>
                </a:solidFill>
                <a:latin typeface="Aptos" pitchFamily="34" charset="0"/>
                <a:ea typeface="Aptos" pitchFamily="34" charset="-122"/>
                <a:cs typeface="Aptos" pitchFamily="34" charset="-120"/>
              </a:rPr>
              <a:t>Guarded work-item creation</a:t>
            </a:r>
            <a:endParaRPr lang="en-US" sz="1300" dirty="0"/>
          </a:p>
        </p:txBody>
      </p:sp>
      <p:sp>
        <p:nvSpPr>
          <p:cNvPr id="37" name="Shape 35"/>
          <p:cNvSpPr/>
          <p:nvPr/>
        </p:nvSpPr>
        <p:spPr>
          <a:xfrm>
            <a:off x="685800" y="5522976"/>
            <a:ext cx="10817352" cy="594360"/>
          </a:xfrm>
          <a:prstGeom prst="roundRect">
            <a:avLst>
              <a:gd name="adj" fmla="val 24615"/>
            </a:avLst>
          </a:prstGeom>
          <a:solidFill>
            <a:srgbClr val="1E2761"/>
          </a:solidFill>
          <a:ln w="12700">
            <a:solidFill>
              <a:srgbClr val="1E2761">
                <a:alpha val="0"/>
              </a:srgbClr>
            </a:solidFill>
            <a:prstDash val="solid"/>
          </a:ln>
        </p:spPr>
      </p:sp>
      <p:sp>
        <p:nvSpPr>
          <p:cNvPr id="38" name="Text 36"/>
          <p:cNvSpPr/>
          <p:nvPr/>
        </p:nvSpPr>
        <p:spPr>
          <a:xfrm>
            <a:off x="969264" y="5678424"/>
            <a:ext cx="10341864" cy="283464"/>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The agent never self-approves. Execution checks the recorded human decision and selected option.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64748D"/>
                </a:solidFill>
                <a:latin typeface="Aptos" pitchFamily="34" charset="0"/>
                <a:ea typeface="Aptos" pitchFamily="34" charset="-122"/>
                <a:cs typeface="Aptos" pitchFamily="34" charset="-120"/>
              </a:rPr>
              <a:t>CHANGEGUARD   /   MICROSOFT AGENT-A-THON   /   LEVEL 2</a:t>
            </a:r>
            <a:endParaRPr lang="en-US" sz="900" dirty="0"/>
          </a:p>
        </p:txBody>
      </p:sp>
      <p:sp>
        <p:nvSpPr>
          <p:cNvPr id="3" name="Text 1"/>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1E2761"/>
                </a:solidFill>
                <a:latin typeface="Aptos" pitchFamily="34" charset="0"/>
                <a:ea typeface="Aptos" pitchFamily="34" charset="-122"/>
                <a:cs typeface="Aptos" pitchFamily="34" charset="-120"/>
              </a:rPr>
              <a:t>MICROSOFT IMPLEMENTATION</a:t>
            </a:r>
            <a:endParaRPr lang="en-US" sz="1000" dirty="0"/>
          </a:p>
        </p:txBody>
      </p:sp>
      <p:sp>
        <p:nvSpPr>
          <p:cNvPr id="4" name="Text 2"/>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64748D"/>
                </a:solidFill>
                <a:latin typeface="Aptos" pitchFamily="34" charset="0"/>
                <a:ea typeface="Aptos" pitchFamily="34" charset="-122"/>
                <a:cs typeface="Aptos" pitchFamily="34" charset="-120"/>
              </a:rPr>
              <a:t>05  /  09</a:t>
            </a:r>
            <a:endParaRPr lang="en-US" sz="900" dirty="0"/>
          </a:p>
        </p:txBody>
      </p:sp>
      <p:sp>
        <p:nvSpPr>
          <p:cNvPr id="5" name="Text 3"/>
          <p:cNvSpPr/>
          <p:nvPr/>
        </p:nvSpPr>
        <p:spPr>
          <a:xfrm>
            <a:off x="667512" y="1115568"/>
            <a:ext cx="10927080" cy="667512"/>
          </a:xfrm>
          <a:prstGeom prst="rect">
            <a:avLst/>
          </a:prstGeom>
          <a:noFill/>
          <a:ln/>
        </p:spPr>
        <p:txBody>
          <a:bodyPr wrap="square" lIns="0" tIns="0" rIns="0" bIns="0" rtlCol="0" anchor="ctr">
            <a:normAutofit/>
          </a:bodyPr>
          <a:lstStyle/>
          <a:p>
            <a:pPr marL="0" indent="0" algn="l">
              <a:buNone/>
            </a:pPr>
            <a:r>
              <a:rPr lang="en-US" sz="3300" b="1" dirty="0">
                <a:solidFill>
                  <a:srgbClr val="1E2761"/>
                </a:solidFill>
                <a:latin typeface="Georgia" pitchFamily="34" charset="0"/>
                <a:ea typeface="Georgia" pitchFamily="34" charset="-122"/>
                <a:cs typeface="Georgia" pitchFamily="34" charset="-120"/>
              </a:rPr>
              <a:t>Four Microsoft products. Clear responsibilities.</a:t>
            </a:r>
            <a:endParaRPr lang="en-US" sz="3300" dirty="0"/>
          </a:p>
        </p:txBody>
      </p:sp>
      <p:sp>
        <p:nvSpPr>
          <p:cNvPr id="6" name="Text 4"/>
          <p:cNvSpPr/>
          <p:nvPr/>
        </p:nvSpPr>
        <p:spPr>
          <a:xfrm>
            <a:off x="685800" y="1837944"/>
            <a:ext cx="10780776" cy="365760"/>
          </a:xfrm>
          <a:prstGeom prst="rect">
            <a:avLst/>
          </a:prstGeom>
          <a:noFill/>
          <a:ln/>
        </p:spPr>
        <p:txBody>
          <a:bodyPr wrap="square" lIns="0" tIns="0" rIns="0" bIns="0" rtlCol="0" anchor="ctr">
            <a:normAutofit/>
          </a:bodyPr>
          <a:lstStyle/>
          <a:p>
            <a:pPr marL="0" indent="0" algn="l">
              <a:buNone/>
            </a:pPr>
            <a:r>
              <a:rPr lang="en-US" sz="1450" dirty="0">
                <a:solidFill>
                  <a:srgbClr val="64748D"/>
                </a:solidFill>
                <a:latin typeface="Aptos" pitchFamily="34" charset="0"/>
                <a:ea typeface="Aptos" pitchFamily="34" charset="-122"/>
                <a:cs typeface="Aptos" pitchFamily="34" charset="-120"/>
              </a:rPr>
              <a:t>The model is the interface, not the authority for schedule math or approval.</a:t>
            </a:r>
            <a:endParaRPr lang="en-US" sz="1450" dirty="0"/>
          </a:p>
        </p:txBody>
      </p:sp>
      <p:sp>
        <p:nvSpPr>
          <p:cNvPr id="7" name="Shape 5"/>
          <p:cNvSpPr/>
          <p:nvPr/>
        </p:nvSpPr>
        <p:spPr>
          <a:xfrm>
            <a:off x="685800" y="2368296"/>
            <a:ext cx="5276088" cy="1307592"/>
          </a:xfrm>
          <a:prstGeom prst="roundRect">
            <a:avLst>
              <a:gd name="adj" fmla="val 11888"/>
            </a:avLst>
          </a:prstGeom>
          <a:solidFill>
            <a:srgbClr val="FFFFFF"/>
          </a:solidFill>
          <a:ln w="12700">
            <a:solidFill>
              <a:srgbClr val="FFFFFF">
                <a:alpha val="0"/>
              </a:srgbClr>
            </a:solidFill>
            <a:prstDash val="solid"/>
          </a:ln>
        </p:spPr>
      </p:sp>
      <p:sp>
        <p:nvSpPr>
          <p:cNvPr id="8" name="Text 6"/>
          <p:cNvSpPr/>
          <p:nvPr/>
        </p:nvSpPr>
        <p:spPr>
          <a:xfrm>
            <a:off x="896112" y="2514600"/>
            <a:ext cx="4791456" cy="210312"/>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COPILOT STUDIO</a:t>
            </a:r>
            <a:endParaRPr lang="en-US" sz="1100" dirty="0"/>
          </a:p>
        </p:txBody>
      </p:sp>
      <p:sp>
        <p:nvSpPr>
          <p:cNvPr id="9" name="Text 7"/>
          <p:cNvSpPr/>
          <p:nvPr/>
        </p:nvSpPr>
        <p:spPr>
          <a:xfrm>
            <a:off x="896112" y="2843784"/>
            <a:ext cx="4754880" cy="347472"/>
          </a:xfrm>
          <a:prstGeom prst="rect">
            <a:avLst/>
          </a:prstGeom>
          <a:noFill/>
          <a:ln/>
        </p:spPr>
        <p:txBody>
          <a:bodyPr wrap="square" lIns="0" tIns="0" rIns="0" bIns="0" rtlCol="0" anchor="ctr">
            <a:normAutofit/>
          </a:bodyPr>
          <a:lstStyle/>
          <a:p>
            <a:pPr marL="0" indent="0" algn="l">
              <a:buNone/>
            </a:pPr>
            <a:r>
              <a:rPr lang="en-US" sz="2000" b="1" dirty="0">
                <a:solidFill>
                  <a:srgbClr val="1E2761"/>
                </a:solidFill>
                <a:latin typeface="Aptos" pitchFamily="34" charset="0"/>
                <a:ea typeface="Aptos" pitchFamily="34" charset="-122"/>
                <a:cs typeface="Aptos" pitchFamily="34" charset="-120"/>
              </a:rPr>
              <a:t>Standard agent  ·  7 tools</a:t>
            </a:r>
            <a:endParaRPr lang="en-US" sz="2000" dirty="0"/>
          </a:p>
        </p:txBody>
      </p:sp>
      <p:sp>
        <p:nvSpPr>
          <p:cNvPr id="10" name="Text 8"/>
          <p:cNvSpPr/>
          <p:nvPr/>
        </p:nvSpPr>
        <p:spPr>
          <a:xfrm>
            <a:off x="896112" y="3300984"/>
            <a:ext cx="4782312" cy="210312"/>
          </a:xfrm>
          <a:prstGeom prst="rect">
            <a:avLst/>
          </a:prstGeom>
          <a:noFill/>
          <a:ln/>
        </p:spPr>
        <p:txBody>
          <a:bodyPr wrap="square" lIns="0" tIns="0" rIns="0" bIns="0" rtlCol="0" anchor="ctr">
            <a:normAutofit/>
          </a:bodyPr>
          <a:lstStyle/>
          <a:p>
            <a:pPr marL="0" indent="0" algn="l">
              <a:buNone/>
            </a:pPr>
            <a:r>
              <a:rPr lang="en-US" sz="1200" dirty="0">
                <a:solidFill>
                  <a:srgbClr val="64748D"/>
                </a:solidFill>
                <a:latin typeface="Aptos" pitchFamily="34" charset="0"/>
                <a:ea typeface="Aptos" pitchFamily="34" charset="-122"/>
                <a:cs typeface="Aptos" pitchFamily="34" charset="-120"/>
              </a:rPr>
              <a:t>Collects inputs; reports typed flow outputs.</a:t>
            </a:r>
            <a:endParaRPr lang="en-US" sz="1200" dirty="0"/>
          </a:p>
        </p:txBody>
      </p:sp>
      <p:sp>
        <p:nvSpPr>
          <p:cNvPr id="11" name="Shape 9"/>
          <p:cNvSpPr/>
          <p:nvPr/>
        </p:nvSpPr>
        <p:spPr>
          <a:xfrm>
            <a:off x="6199632" y="2368296"/>
            <a:ext cx="5276088" cy="1307592"/>
          </a:xfrm>
          <a:prstGeom prst="roundRect">
            <a:avLst>
              <a:gd name="adj" fmla="val 11888"/>
            </a:avLst>
          </a:prstGeom>
          <a:solidFill>
            <a:srgbClr val="FFFFFF"/>
          </a:solidFill>
          <a:ln w="12700">
            <a:solidFill>
              <a:srgbClr val="FFFFFF">
                <a:alpha val="0"/>
              </a:srgbClr>
            </a:solidFill>
            <a:prstDash val="solid"/>
          </a:ln>
        </p:spPr>
      </p:sp>
      <p:sp>
        <p:nvSpPr>
          <p:cNvPr id="12" name="Text 10"/>
          <p:cNvSpPr/>
          <p:nvPr/>
        </p:nvSpPr>
        <p:spPr>
          <a:xfrm>
            <a:off x="6409944" y="2514600"/>
            <a:ext cx="4791456" cy="210312"/>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POWER AUTOMATE</a:t>
            </a:r>
            <a:endParaRPr lang="en-US" sz="1100" dirty="0"/>
          </a:p>
        </p:txBody>
      </p:sp>
      <p:sp>
        <p:nvSpPr>
          <p:cNvPr id="13" name="Text 11"/>
          <p:cNvSpPr/>
          <p:nvPr/>
        </p:nvSpPr>
        <p:spPr>
          <a:xfrm>
            <a:off x="6409944" y="2843784"/>
            <a:ext cx="4754880" cy="347472"/>
          </a:xfrm>
          <a:prstGeom prst="rect">
            <a:avLst/>
          </a:prstGeom>
          <a:noFill/>
          <a:ln/>
        </p:spPr>
        <p:txBody>
          <a:bodyPr wrap="square" lIns="0" tIns="0" rIns="0" bIns="0" rtlCol="0" anchor="ctr">
            <a:normAutofit/>
          </a:bodyPr>
          <a:lstStyle/>
          <a:p>
            <a:pPr marL="0" indent="0" algn="l">
              <a:buNone/>
            </a:pPr>
            <a:r>
              <a:rPr lang="en-US" sz="2000" b="1" dirty="0">
                <a:solidFill>
                  <a:srgbClr val="1E2761"/>
                </a:solidFill>
                <a:latin typeface="Aptos" pitchFamily="34" charset="0"/>
                <a:ea typeface="Aptos" pitchFamily="34" charset="-122"/>
                <a:cs typeface="Aptos" pitchFamily="34" charset="-120"/>
              </a:rPr>
              <a:t>10 hardened flows</a:t>
            </a:r>
            <a:endParaRPr lang="en-US" sz="2000" dirty="0"/>
          </a:p>
        </p:txBody>
      </p:sp>
      <p:sp>
        <p:nvSpPr>
          <p:cNvPr id="14" name="Text 12"/>
          <p:cNvSpPr/>
          <p:nvPr/>
        </p:nvSpPr>
        <p:spPr>
          <a:xfrm>
            <a:off x="6409944" y="3300984"/>
            <a:ext cx="4782312" cy="210312"/>
          </a:xfrm>
          <a:prstGeom prst="rect">
            <a:avLst/>
          </a:prstGeom>
          <a:noFill/>
          <a:ln/>
        </p:spPr>
        <p:txBody>
          <a:bodyPr wrap="square" lIns="0" tIns="0" rIns="0" bIns="0" rtlCol="0" anchor="ctr">
            <a:normAutofit/>
          </a:bodyPr>
          <a:lstStyle/>
          <a:p>
            <a:pPr marL="0" indent="0" algn="l">
              <a:buNone/>
            </a:pPr>
            <a:r>
              <a:rPr lang="en-US" sz="1200" dirty="0">
                <a:solidFill>
                  <a:srgbClr val="64748D"/>
                </a:solidFill>
                <a:latin typeface="Aptos" pitchFamily="34" charset="0"/>
                <a:ea typeface="Aptos" pitchFamily="34" charset="-122"/>
                <a:cs typeface="Aptos" pitchFamily="34" charset="-120"/>
              </a:rPr>
              <a:t>Computes dates; checks options, approval and execution.</a:t>
            </a:r>
            <a:endParaRPr lang="en-US" sz="1200" dirty="0"/>
          </a:p>
        </p:txBody>
      </p:sp>
      <p:sp>
        <p:nvSpPr>
          <p:cNvPr id="15" name="Shape 13"/>
          <p:cNvSpPr/>
          <p:nvPr/>
        </p:nvSpPr>
        <p:spPr>
          <a:xfrm>
            <a:off x="685800" y="3858768"/>
            <a:ext cx="5276088" cy="1307592"/>
          </a:xfrm>
          <a:prstGeom prst="roundRect">
            <a:avLst>
              <a:gd name="adj" fmla="val 11888"/>
            </a:avLst>
          </a:prstGeom>
          <a:solidFill>
            <a:srgbClr val="FFFFFF"/>
          </a:solidFill>
          <a:ln w="12700">
            <a:solidFill>
              <a:srgbClr val="FFFFFF">
                <a:alpha val="0"/>
              </a:srgbClr>
            </a:solidFill>
            <a:prstDash val="solid"/>
          </a:ln>
        </p:spPr>
      </p:sp>
      <p:sp>
        <p:nvSpPr>
          <p:cNvPr id="16" name="Text 14"/>
          <p:cNvSpPr/>
          <p:nvPr/>
        </p:nvSpPr>
        <p:spPr>
          <a:xfrm>
            <a:off x="896112" y="4005072"/>
            <a:ext cx="4791456" cy="210312"/>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DATAVERSE</a:t>
            </a:r>
            <a:endParaRPr lang="en-US" sz="1100" dirty="0"/>
          </a:p>
        </p:txBody>
      </p:sp>
      <p:sp>
        <p:nvSpPr>
          <p:cNvPr id="17" name="Text 15"/>
          <p:cNvSpPr/>
          <p:nvPr/>
        </p:nvSpPr>
        <p:spPr>
          <a:xfrm>
            <a:off x="896112" y="4334256"/>
            <a:ext cx="4754880" cy="347472"/>
          </a:xfrm>
          <a:prstGeom prst="rect">
            <a:avLst/>
          </a:prstGeom>
          <a:noFill/>
          <a:ln/>
        </p:spPr>
        <p:txBody>
          <a:bodyPr wrap="square" lIns="0" tIns="0" rIns="0" bIns="0" rtlCol="0" anchor="ctr">
            <a:normAutofit/>
          </a:bodyPr>
          <a:lstStyle/>
          <a:p>
            <a:pPr marL="0" indent="0" algn="l">
              <a:buNone/>
            </a:pPr>
            <a:r>
              <a:rPr lang="en-US" sz="2000" b="1" dirty="0">
                <a:solidFill>
                  <a:srgbClr val="1E2761"/>
                </a:solidFill>
                <a:latin typeface="Aptos" pitchFamily="34" charset="0"/>
                <a:ea typeface="Aptos" pitchFamily="34" charset="-122"/>
                <a:cs typeface="Aptos" pitchFamily="34" charset="-120"/>
              </a:rPr>
              <a:t>11 tables  ·  alternate keys</a:t>
            </a:r>
            <a:endParaRPr lang="en-US" sz="2000" dirty="0"/>
          </a:p>
        </p:txBody>
      </p:sp>
      <p:sp>
        <p:nvSpPr>
          <p:cNvPr id="18" name="Text 16"/>
          <p:cNvSpPr/>
          <p:nvPr/>
        </p:nvSpPr>
        <p:spPr>
          <a:xfrm>
            <a:off x="896112" y="4791456"/>
            <a:ext cx="4782312" cy="210312"/>
          </a:xfrm>
          <a:prstGeom prst="rect">
            <a:avLst/>
          </a:prstGeom>
          <a:noFill/>
          <a:ln/>
        </p:spPr>
        <p:txBody>
          <a:bodyPr wrap="square" lIns="0" tIns="0" rIns="0" bIns="0" rtlCol="0" anchor="ctr">
            <a:normAutofit/>
          </a:bodyPr>
          <a:lstStyle/>
          <a:p>
            <a:pPr marL="0" indent="0" algn="l">
              <a:buNone/>
            </a:pPr>
            <a:r>
              <a:rPr lang="en-US" sz="1200" dirty="0">
                <a:solidFill>
                  <a:srgbClr val="64748D"/>
                </a:solidFill>
                <a:latin typeface="Aptos" pitchFamily="34" charset="0"/>
                <a:ea typeface="Aptos" pitchFamily="34" charset="-122"/>
                <a:cs typeface="Aptos" pitchFamily="34" charset="-120"/>
              </a:rPr>
              <a:t>Stores baselines, requests, decisions, actions and audit.</a:t>
            </a:r>
            <a:endParaRPr lang="en-US" sz="1200" dirty="0"/>
          </a:p>
        </p:txBody>
      </p:sp>
      <p:sp>
        <p:nvSpPr>
          <p:cNvPr id="19" name="Shape 17"/>
          <p:cNvSpPr/>
          <p:nvPr/>
        </p:nvSpPr>
        <p:spPr>
          <a:xfrm>
            <a:off x="6199632" y="3858768"/>
            <a:ext cx="5276088" cy="1307592"/>
          </a:xfrm>
          <a:prstGeom prst="roundRect">
            <a:avLst>
              <a:gd name="adj" fmla="val 11888"/>
            </a:avLst>
          </a:prstGeom>
          <a:solidFill>
            <a:srgbClr val="FFFFFF"/>
          </a:solidFill>
          <a:ln w="12700">
            <a:solidFill>
              <a:srgbClr val="FFFFFF">
                <a:alpha val="0"/>
              </a:srgbClr>
            </a:solidFill>
            <a:prstDash val="solid"/>
          </a:ln>
        </p:spPr>
      </p:sp>
      <p:sp>
        <p:nvSpPr>
          <p:cNvPr id="20" name="Text 18"/>
          <p:cNvSpPr/>
          <p:nvPr/>
        </p:nvSpPr>
        <p:spPr>
          <a:xfrm>
            <a:off x="6409944" y="4005072"/>
            <a:ext cx="4791456" cy="210312"/>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POWER APPS</a:t>
            </a:r>
            <a:endParaRPr lang="en-US" sz="1100" dirty="0"/>
          </a:p>
        </p:txBody>
      </p:sp>
      <p:sp>
        <p:nvSpPr>
          <p:cNvPr id="21" name="Text 19"/>
          <p:cNvSpPr/>
          <p:nvPr/>
        </p:nvSpPr>
        <p:spPr>
          <a:xfrm>
            <a:off x="6409944" y="4334256"/>
            <a:ext cx="4754880" cy="347472"/>
          </a:xfrm>
          <a:prstGeom prst="rect">
            <a:avLst/>
          </a:prstGeom>
          <a:noFill/>
          <a:ln/>
        </p:spPr>
        <p:txBody>
          <a:bodyPr wrap="square" lIns="0" tIns="0" rIns="0" bIns="0" rtlCol="0" anchor="ctr">
            <a:normAutofit/>
          </a:bodyPr>
          <a:lstStyle/>
          <a:p>
            <a:pPr marL="0" indent="0" algn="l">
              <a:buNone/>
            </a:pPr>
            <a:r>
              <a:rPr lang="en-US" sz="2000" b="1" dirty="0">
                <a:solidFill>
                  <a:srgbClr val="1E2761"/>
                </a:solidFill>
                <a:latin typeface="Aptos" pitchFamily="34" charset="0"/>
                <a:ea typeface="Aptos" pitchFamily="34" charset="-122"/>
                <a:cs typeface="Aptos" pitchFamily="34" charset="-120"/>
              </a:rPr>
              <a:t>Model-driven reviewer</a:t>
            </a:r>
            <a:endParaRPr lang="en-US" sz="2000" dirty="0"/>
          </a:p>
        </p:txBody>
      </p:sp>
      <p:sp>
        <p:nvSpPr>
          <p:cNvPr id="22" name="Text 20"/>
          <p:cNvSpPr/>
          <p:nvPr/>
        </p:nvSpPr>
        <p:spPr>
          <a:xfrm>
            <a:off x="6409944" y="4791456"/>
            <a:ext cx="4782312" cy="210312"/>
          </a:xfrm>
          <a:prstGeom prst="rect">
            <a:avLst/>
          </a:prstGeom>
          <a:noFill/>
          <a:ln/>
        </p:spPr>
        <p:txBody>
          <a:bodyPr wrap="square" lIns="0" tIns="0" rIns="0" bIns="0" rtlCol="0" anchor="ctr">
            <a:normAutofit/>
          </a:bodyPr>
          <a:lstStyle/>
          <a:p>
            <a:pPr marL="0" indent="0" algn="l">
              <a:buNone/>
            </a:pPr>
            <a:r>
              <a:rPr lang="en-US" sz="1200" dirty="0">
                <a:solidFill>
                  <a:srgbClr val="64748D"/>
                </a:solidFill>
                <a:latin typeface="Aptos" pitchFamily="34" charset="0"/>
                <a:ea typeface="Aptos" pitchFamily="34" charset="-122"/>
                <a:cs typeface="Aptos" pitchFamily="34" charset="-120"/>
              </a:rPr>
              <a:t>Shows source evidence and records the human decision.</a:t>
            </a:r>
            <a:endParaRPr lang="en-US" sz="1200" dirty="0"/>
          </a:p>
        </p:txBody>
      </p:sp>
      <p:sp>
        <p:nvSpPr>
          <p:cNvPr id="23" name="Shape 21"/>
          <p:cNvSpPr/>
          <p:nvPr/>
        </p:nvSpPr>
        <p:spPr>
          <a:xfrm>
            <a:off x="685800" y="5623560"/>
            <a:ext cx="10817352" cy="566928"/>
          </a:xfrm>
          <a:prstGeom prst="roundRect">
            <a:avLst>
              <a:gd name="adj" fmla="val 25806"/>
            </a:avLst>
          </a:prstGeom>
          <a:solidFill>
            <a:srgbClr val="1E2761"/>
          </a:solidFill>
          <a:ln w="12700">
            <a:solidFill>
              <a:srgbClr val="1E2761">
                <a:alpha val="0"/>
              </a:srgbClr>
            </a:solidFill>
            <a:prstDash val="solid"/>
          </a:ln>
        </p:spPr>
      </p:sp>
      <p:sp>
        <p:nvSpPr>
          <p:cNvPr id="24" name="Text 22"/>
          <p:cNvSpPr/>
          <p:nvPr/>
        </p:nvSpPr>
        <p:spPr>
          <a:xfrm>
            <a:off x="932688" y="5769864"/>
            <a:ext cx="10241280" cy="283464"/>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Service-principal writes keep the human approver separate from the connector identity.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64748D"/>
                </a:solidFill>
                <a:latin typeface="Aptos" pitchFamily="34" charset="0"/>
                <a:ea typeface="Aptos" pitchFamily="34" charset="-122"/>
                <a:cs typeface="Aptos" pitchFamily="34" charset="-120"/>
              </a:rPr>
              <a:t>CHANGEGUARD   /   MICROSOFT AGENT-A-THON   /   LEVEL 2</a:t>
            </a:r>
            <a:endParaRPr lang="en-US" sz="900" dirty="0"/>
          </a:p>
        </p:txBody>
      </p:sp>
      <p:sp>
        <p:nvSpPr>
          <p:cNvPr id="3" name="Text 1"/>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1E2761"/>
                </a:solidFill>
                <a:latin typeface="Aptos" pitchFamily="34" charset="0"/>
                <a:ea typeface="Aptos" pitchFamily="34" charset="-122"/>
                <a:cs typeface="Aptos" pitchFamily="34" charset="-120"/>
              </a:rPr>
              <a:t>VERIFIED SYNTHETIC SCENARIO</a:t>
            </a:r>
            <a:endParaRPr lang="en-US" sz="1000" dirty="0"/>
          </a:p>
        </p:txBody>
      </p:sp>
      <p:sp>
        <p:nvSpPr>
          <p:cNvPr id="4" name="Text 2"/>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64748D"/>
                </a:solidFill>
                <a:latin typeface="Aptos" pitchFamily="34" charset="0"/>
                <a:ea typeface="Aptos" pitchFamily="34" charset="-122"/>
                <a:cs typeface="Aptos" pitchFamily="34" charset="-120"/>
              </a:rPr>
              <a:t>06  /  09</a:t>
            </a:r>
            <a:endParaRPr lang="en-US" sz="900" dirty="0"/>
          </a:p>
        </p:txBody>
      </p:sp>
      <p:sp>
        <p:nvSpPr>
          <p:cNvPr id="5" name="Text 3"/>
          <p:cNvSpPr/>
          <p:nvPr/>
        </p:nvSpPr>
        <p:spPr>
          <a:xfrm>
            <a:off x="667512" y="1115568"/>
            <a:ext cx="10927080" cy="667512"/>
          </a:xfrm>
          <a:prstGeom prst="rect">
            <a:avLst/>
          </a:prstGeom>
          <a:noFill/>
          <a:ln/>
        </p:spPr>
        <p:txBody>
          <a:bodyPr wrap="square" lIns="0" tIns="0" rIns="0" bIns="0" rtlCol="0" anchor="ctr">
            <a:normAutofit/>
          </a:bodyPr>
          <a:lstStyle/>
          <a:p>
            <a:pPr marL="0" indent="0" algn="l">
              <a:buNone/>
            </a:pPr>
            <a:r>
              <a:rPr lang="en-US" sz="3300" b="1" dirty="0">
                <a:solidFill>
                  <a:srgbClr val="1E2761"/>
                </a:solidFill>
                <a:latin typeface="Georgia" pitchFamily="34" charset="0"/>
                <a:ea typeface="Georgia" pitchFamily="34" charset="-122"/>
                <a:cs typeface="Georgia" pitchFamily="34" charset="-120"/>
              </a:rPr>
              <a:t>Harbour Crane Retrofit: one delay, three milestones</a:t>
            </a:r>
            <a:endParaRPr lang="en-US" sz="3300" dirty="0"/>
          </a:p>
        </p:txBody>
      </p:sp>
      <p:sp>
        <p:nvSpPr>
          <p:cNvPr id="6" name="Text 4"/>
          <p:cNvSpPr/>
          <p:nvPr/>
        </p:nvSpPr>
        <p:spPr>
          <a:xfrm>
            <a:off x="685800" y="1837944"/>
            <a:ext cx="10780776" cy="365760"/>
          </a:xfrm>
          <a:prstGeom prst="rect">
            <a:avLst/>
          </a:prstGeom>
          <a:noFill/>
          <a:ln/>
        </p:spPr>
        <p:txBody>
          <a:bodyPr wrap="square" lIns="0" tIns="0" rIns="0" bIns="0" rtlCol="0" anchor="ctr">
            <a:normAutofit/>
          </a:bodyPr>
          <a:lstStyle/>
          <a:p>
            <a:pPr marL="0" indent="0" algn="l">
              <a:buNone/>
            </a:pPr>
            <a:r>
              <a:rPr lang="en-US" sz="1450" dirty="0">
                <a:solidFill>
                  <a:srgbClr val="64748D"/>
                </a:solidFill>
                <a:latin typeface="Aptos" pitchFamily="34" charset="0"/>
                <a:ea typeface="Aptos" pitchFamily="34" charset="-122"/>
                <a:cs typeface="Aptos" pitchFamily="34" charset="-120"/>
              </a:rPr>
              <a:t>A supplier’s gearbox delivery moves from 9 October to 30 October 2026.</a:t>
            </a:r>
            <a:endParaRPr lang="en-US" sz="1450" dirty="0"/>
          </a:p>
        </p:txBody>
      </p:sp>
      <p:sp>
        <p:nvSpPr>
          <p:cNvPr id="7" name="Shape 5"/>
          <p:cNvSpPr/>
          <p:nvPr/>
        </p:nvSpPr>
        <p:spPr>
          <a:xfrm>
            <a:off x="694944" y="2340864"/>
            <a:ext cx="5074920" cy="3081528"/>
          </a:xfrm>
          <a:prstGeom prst="roundRect">
            <a:avLst>
              <a:gd name="adj" fmla="val 5045"/>
            </a:avLst>
          </a:prstGeom>
          <a:solidFill>
            <a:srgbClr val="FFFFFF"/>
          </a:solidFill>
          <a:ln w="12700">
            <a:solidFill>
              <a:srgbClr val="FFFFFF">
                <a:alpha val="0"/>
              </a:srgbClr>
            </a:solidFill>
            <a:prstDash val="solid"/>
          </a:ln>
        </p:spPr>
      </p:sp>
      <p:sp>
        <p:nvSpPr>
          <p:cNvPr id="8" name="Text 6"/>
          <p:cNvSpPr/>
          <p:nvPr/>
        </p:nvSpPr>
        <p:spPr>
          <a:xfrm>
            <a:off x="960120" y="2724912"/>
            <a:ext cx="1856232" cy="1024128"/>
          </a:xfrm>
          <a:prstGeom prst="rect">
            <a:avLst/>
          </a:prstGeom>
          <a:noFill/>
          <a:ln/>
        </p:spPr>
        <p:txBody>
          <a:bodyPr wrap="square" lIns="0" tIns="0" rIns="0" bIns="0" rtlCol="0" anchor="ctr">
            <a:normAutofit/>
          </a:bodyPr>
          <a:lstStyle/>
          <a:p>
            <a:pPr marL="0" indent="0" algn="l">
              <a:buNone/>
            </a:pPr>
            <a:r>
              <a:rPr lang="en-US" sz="6300" b="1" dirty="0">
                <a:solidFill>
                  <a:srgbClr val="1E2761"/>
                </a:solidFill>
                <a:latin typeface="Aptos" pitchFamily="34" charset="0"/>
                <a:ea typeface="Aptos" pitchFamily="34" charset="-122"/>
                <a:cs typeface="Aptos" pitchFamily="34" charset="-120"/>
              </a:rPr>
              <a:t>15</a:t>
            </a:r>
            <a:endParaRPr lang="en-US" sz="6300" dirty="0"/>
          </a:p>
        </p:txBody>
      </p:sp>
      <p:sp>
        <p:nvSpPr>
          <p:cNvPr id="9" name="Text 7"/>
          <p:cNvSpPr/>
          <p:nvPr/>
        </p:nvSpPr>
        <p:spPr>
          <a:xfrm>
            <a:off x="2807208" y="3182112"/>
            <a:ext cx="2523744" cy="329184"/>
          </a:xfrm>
          <a:prstGeom prst="rect">
            <a:avLst/>
          </a:prstGeom>
          <a:noFill/>
          <a:ln/>
        </p:spPr>
        <p:txBody>
          <a:bodyPr wrap="square" lIns="0" tIns="0" rIns="0" bIns="0" rtlCol="0" anchor="ctr">
            <a:normAutofit/>
          </a:bodyPr>
          <a:lstStyle/>
          <a:p>
            <a:pPr marL="0" indent="0" algn="l">
              <a:buNone/>
            </a:pPr>
            <a:r>
              <a:rPr lang="en-US" sz="1300" b="1" dirty="0">
                <a:solidFill>
                  <a:srgbClr val="1E2761"/>
                </a:solidFill>
                <a:latin typeface="Aptos" pitchFamily="34" charset="0"/>
                <a:ea typeface="Aptos" pitchFamily="34" charset="-122"/>
                <a:cs typeface="Aptos" pitchFamily="34" charset="-120"/>
              </a:rPr>
              <a:t>WORKING-DAY SLIP</a:t>
            </a:r>
            <a:endParaRPr lang="en-US" sz="1300" dirty="0"/>
          </a:p>
        </p:txBody>
      </p:sp>
      <p:sp>
        <p:nvSpPr>
          <p:cNvPr id="10" name="Text 8"/>
          <p:cNvSpPr/>
          <p:nvPr/>
        </p:nvSpPr>
        <p:spPr>
          <a:xfrm>
            <a:off x="1014984" y="3922776"/>
            <a:ext cx="4489704" cy="292608"/>
          </a:xfrm>
          <a:prstGeom prst="rect">
            <a:avLst/>
          </a:prstGeom>
          <a:noFill/>
          <a:ln/>
        </p:spPr>
        <p:txBody>
          <a:bodyPr wrap="square" lIns="0" tIns="0" rIns="0" bIns="0" rtlCol="0" anchor="ctr">
            <a:normAutofit/>
          </a:bodyPr>
          <a:lstStyle/>
          <a:p>
            <a:pPr marL="0" indent="0" algn="l">
              <a:buNone/>
            </a:pPr>
            <a:r>
              <a:rPr lang="en-US" sz="1500" dirty="0">
                <a:solidFill>
                  <a:srgbClr val="192744"/>
                </a:solidFill>
                <a:latin typeface="Aptos" pitchFamily="34" charset="0"/>
                <a:ea typeface="Aptos" pitchFamily="34" charset="-122"/>
                <a:cs typeface="Aptos" pitchFamily="34" charset="-120"/>
              </a:rPr>
              <a:t>Mechanical installation moves to 11 Nov.</a:t>
            </a:r>
            <a:endParaRPr lang="en-US" sz="1500" dirty="0"/>
          </a:p>
        </p:txBody>
      </p:sp>
      <p:sp>
        <p:nvSpPr>
          <p:cNvPr id="11" name="Text 9"/>
          <p:cNvSpPr/>
          <p:nvPr/>
        </p:nvSpPr>
        <p:spPr>
          <a:xfrm>
            <a:off x="1014984" y="4343400"/>
            <a:ext cx="4517136" cy="292608"/>
          </a:xfrm>
          <a:prstGeom prst="rect">
            <a:avLst/>
          </a:prstGeom>
          <a:noFill/>
          <a:ln/>
        </p:spPr>
        <p:txBody>
          <a:bodyPr wrap="square" lIns="0" tIns="0" rIns="0" bIns="0" rtlCol="0" anchor="ctr">
            <a:normAutofit/>
          </a:bodyPr>
          <a:lstStyle/>
          <a:p>
            <a:pPr marL="0" indent="0" algn="l">
              <a:buNone/>
            </a:pPr>
            <a:r>
              <a:rPr lang="en-US" sz="1500" dirty="0">
                <a:solidFill>
                  <a:srgbClr val="192744"/>
                </a:solidFill>
                <a:latin typeface="Aptos" pitchFamily="34" charset="0"/>
                <a:ea typeface="Aptos" pitchFamily="34" charset="-122"/>
                <a:cs typeface="Aptos" pitchFamily="34" charset="-120"/>
              </a:rPr>
              <a:t>Customer handover moves to 18 Nov.</a:t>
            </a:r>
            <a:endParaRPr lang="en-US" sz="1500" dirty="0"/>
          </a:p>
        </p:txBody>
      </p:sp>
      <p:sp>
        <p:nvSpPr>
          <p:cNvPr id="12" name="Shape 10"/>
          <p:cNvSpPr/>
          <p:nvPr/>
        </p:nvSpPr>
        <p:spPr>
          <a:xfrm>
            <a:off x="987552" y="4800600"/>
            <a:ext cx="3200400" cy="356616"/>
          </a:xfrm>
          <a:prstGeom prst="roundRect">
            <a:avLst>
              <a:gd name="adj" fmla="val 43590"/>
            </a:avLst>
          </a:prstGeom>
          <a:solidFill>
            <a:srgbClr val="E8EEFA"/>
          </a:solidFill>
          <a:ln w="12700">
            <a:solidFill>
              <a:srgbClr val="E8EEFA">
                <a:alpha val="0"/>
              </a:srgbClr>
            </a:solidFill>
            <a:prstDash val="solid"/>
          </a:ln>
        </p:spPr>
      </p:sp>
      <p:sp>
        <p:nvSpPr>
          <p:cNvPr id="13" name="Text 11"/>
          <p:cNvSpPr/>
          <p:nvPr/>
        </p:nvSpPr>
        <p:spPr>
          <a:xfrm>
            <a:off x="1115568" y="4869180"/>
            <a:ext cx="2953512" cy="201168"/>
          </a:xfrm>
          <a:prstGeom prst="rect">
            <a:avLst/>
          </a:prstGeom>
          <a:noFill/>
          <a:ln/>
        </p:spPr>
        <p:txBody>
          <a:bodyPr wrap="square" lIns="0" tIns="0" rIns="0" bIns="0" rtlCol="0" anchor="ctr">
            <a:normAutofit/>
          </a:bodyPr>
          <a:lstStyle/>
          <a:p>
            <a:pPr marL="0" indent="0" algn="l">
              <a:buNone/>
            </a:pPr>
            <a:r>
              <a:rPr lang="en-US" sz="1000" b="1" dirty="0">
                <a:solidFill>
                  <a:srgbClr val="E8A33D"/>
                </a:solidFill>
                <a:latin typeface="Aptos" pitchFamily="34" charset="0"/>
                <a:ea typeface="Aptos" pitchFamily="34" charset="-122"/>
                <a:cs typeface="Aptos" pitchFamily="34" charset="-120"/>
              </a:rPr>
              <a:t>External commitment at risk</a:t>
            </a:r>
            <a:endParaRPr lang="en-US" sz="1000" dirty="0"/>
          </a:p>
        </p:txBody>
      </p:sp>
      <p:sp>
        <p:nvSpPr>
          <p:cNvPr id="14" name="Shape 12"/>
          <p:cNvSpPr/>
          <p:nvPr/>
        </p:nvSpPr>
        <p:spPr>
          <a:xfrm>
            <a:off x="5998464" y="2340864"/>
            <a:ext cx="5468112" cy="3081528"/>
          </a:xfrm>
          <a:prstGeom prst="roundRect">
            <a:avLst>
              <a:gd name="adj" fmla="val 5045"/>
            </a:avLst>
          </a:prstGeom>
          <a:solidFill>
            <a:srgbClr val="FFFFFF"/>
          </a:solidFill>
          <a:ln w="12700">
            <a:solidFill>
              <a:srgbClr val="FFFFFF">
                <a:alpha val="0"/>
              </a:srgbClr>
            </a:solidFill>
            <a:prstDash val="solid"/>
          </a:ln>
        </p:spPr>
      </p:sp>
      <p:sp>
        <p:nvSpPr>
          <p:cNvPr id="15" name="Text 13"/>
          <p:cNvSpPr/>
          <p:nvPr/>
        </p:nvSpPr>
        <p:spPr>
          <a:xfrm>
            <a:off x="6318504" y="2724912"/>
            <a:ext cx="4636008" cy="237744"/>
          </a:xfrm>
          <a:prstGeom prst="rect">
            <a:avLst/>
          </a:prstGeom>
          <a:noFill/>
          <a:ln/>
        </p:spPr>
        <p:txBody>
          <a:bodyPr wrap="square" lIns="0" tIns="0" rIns="0" bIns="0" rtlCol="0" anchor="ctr">
            <a:normAutofit/>
          </a:bodyPr>
          <a:lstStyle/>
          <a:p>
            <a:pPr marL="0" indent="0" algn="l">
              <a:buNone/>
            </a:pPr>
            <a:r>
              <a:rPr lang="en-US" sz="1100" b="1" dirty="0">
                <a:solidFill>
                  <a:srgbClr val="1E2761"/>
                </a:solidFill>
                <a:latin typeface="Aptos" pitchFamily="34" charset="0"/>
                <a:ea typeface="Aptos" pitchFamily="34" charset="-122"/>
                <a:cs typeface="Aptos" pitchFamily="34" charset="-120"/>
              </a:rPr>
              <a:t>SELECTABLE RECOVERY OPTION</a:t>
            </a:r>
            <a:endParaRPr lang="en-US" sz="1100" dirty="0"/>
          </a:p>
        </p:txBody>
      </p:sp>
      <p:sp>
        <p:nvSpPr>
          <p:cNvPr id="16" name="Text 14"/>
          <p:cNvSpPr/>
          <p:nvPr/>
        </p:nvSpPr>
        <p:spPr>
          <a:xfrm>
            <a:off x="6291072" y="3145536"/>
            <a:ext cx="4754880" cy="566928"/>
          </a:xfrm>
          <a:prstGeom prst="rect">
            <a:avLst/>
          </a:prstGeom>
          <a:noFill/>
          <a:ln/>
        </p:spPr>
        <p:txBody>
          <a:bodyPr wrap="square" lIns="0" tIns="0" rIns="0" bIns="0" rtlCol="0" anchor="ctr">
            <a:normAutofit/>
          </a:bodyPr>
          <a:lstStyle/>
          <a:p>
            <a:pPr marL="0" indent="0" algn="l">
              <a:buNone/>
            </a:pPr>
            <a:r>
              <a:rPr lang="en-US" sz="3000" b="1" dirty="0">
                <a:solidFill>
                  <a:srgbClr val="1E2761"/>
                </a:solidFill>
                <a:latin typeface="Aptos" pitchFamily="34" charset="0"/>
                <a:ea typeface="Aptos" pitchFamily="34" charset="-122"/>
                <a:cs typeface="Aptos" pitchFamily="34" charset="-120"/>
              </a:rPr>
              <a:t>AIR FREIGHT</a:t>
            </a:r>
            <a:endParaRPr lang="en-US" sz="3000" dirty="0"/>
          </a:p>
        </p:txBody>
      </p:sp>
      <p:sp>
        <p:nvSpPr>
          <p:cNvPr id="17" name="Text 15"/>
          <p:cNvSpPr/>
          <p:nvPr/>
        </p:nvSpPr>
        <p:spPr>
          <a:xfrm>
            <a:off x="6291072" y="3822192"/>
            <a:ext cx="4754880" cy="585216"/>
          </a:xfrm>
          <a:prstGeom prst="rect">
            <a:avLst/>
          </a:prstGeom>
          <a:noFill/>
          <a:ln/>
        </p:spPr>
        <p:txBody>
          <a:bodyPr wrap="square" lIns="0" tIns="0" rIns="0" bIns="0" rtlCol="0" anchor="ctr">
            <a:normAutofit/>
          </a:bodyPr>
          <a:lstStyle/>
          <a:p>
            <a:pPr marL="0" indent="0" algn="l">
              <a:buNone/>
            </a:pPr>
            <a:r>
              <a:rPr lang="en-US" sz="3400" b="1" dirty="0">
                <a:solidFill>
                  <a:srgbClr val="1E2761"/>
                </a:solidFill>
                <a:latin typeface="Aptos" pitchFamily="34" charset="0"/>
                <a:ea typeface="Aptos" pitchFamily="34" charset="-122"/>
                <a:cs typeface="Aptos" pitchFamily="34" charset="-120"/>
              </a:rPr>
              <a:t>$8,200</a:t>
            </a:r>
            <a:endParaRPr lang="en-US" sz="3400" dirty="0"/>
          </a:p>
        </p:txBody>
      </p:sp>
      <p:sp>
        <p:nvSpPr>
          <p:cNvPr id="18" name="Text 16"/>
          <p:cNvSpPr/>
          <p:nvPr/>
        </p:nvSpPr>
        <p:spPr>
          <a:xfrm>
            <a:off x="6336792" y="4416552"/>
            <a:ext cx="4544568" cy="256032"/>
          </a:xfrm>
          <a:prstGeom prst="rect">
            <a:avLst/>
          </a:prstGeom>
          <a:noFill/>
          <a:ln/>
        </p:spPr>
        <p:txBody>
          <a:bodyPr wrap="square" lIns="0" tIns="0" rIns="0" bIns="0" rtlCol="0" anchor="ctr">
            <a:normAutofit/>
          </a:bodyPr>
          <a:lstStyle/>
          <a:p>
            <a:pPr marL="0" indent="0" algn="l">
              <a:buNone/>
            </a:pPr>
            <a:r>
              <a:rPr lang="en-US" sz="1200" dirty="0">
                <a:solidFill>
                  <a:srgbClr val="64748D"/>
                </a:solidFill>
                <a:latin typeface="Aptos" pitchFamily="34" charset="0"/>
                <a:ea typeface="Aptos" pitchFamily="34" charset="-122"/>
                <a:cs typeface="Aptos" pitchFamily="34" charset="-120"/>
              </a:rPr>
              <a:t>Simulated option cost, not an actual purchase</a:t>
            </a:r>
            <a:endParaRPr lang="en-US" sz="1200" dirty="0"/>
          </a:p>
        </p:txBody>
      </p:sp>
      <p:sp>
        <p:nvSpPr>
          <p:cNvPr id="19" name="Shape 17"/>
          <p:cNvSpPr/>
          <p:nvPr/>
        </p:nvSpPr>
        <p:spPr>
          <a:xfrm>
            <a:off x="6309360" y="4837176"/>
            <a:ext cx="4261104" cy="356616"/>
          </a:xfrm>
          <a:prstGeom prst="roundRect">
            <a:avLst>
              <a:gd name="adj" fmla="val 43590"/>
            </a:avLst>
          </a:prstGeom>
          <a:solidFill>
            <a:srgbClr val="E8EEFA"/>
          </a:solidFill>
          <a:ln w="12700">
            <a:solidFill>
              <a:srgbClr val="E8EEFA">
                <a:alpha val="0"/>
              </a:srgbClr>
            </a:solidFill>
            <a:prstDash val="solid"/>
          </a:ln>
        </p:spPr>
      </p:sp>
      <p:sp>
        <p:nvSpPr>
          <p:cNvPr id="20" name="Text 18"/>
          <p:cNvSpPr/>
          <p:nvPr/>
        </p:nvSpPr>
        <p:spPr>
          <a:xfrm>
            <a:off x="6437376" y="4905756"/>
            <a:ext cx="4014216" cy="201168"/>
          </a:xfrm>
          <a:prstGeom prst="rect">
            <a:avLst/>
          </a:prstGeom>
          <a:noFill/>
          <a:ln/>
        </p:spPr>
        <p:txBody>
          <a:bodyPr wrap="square" lIns="0" tIns="0" rIns="0" bIns="0" rtlCol="0" anchor="ctr">
            <a:normAutofit/>
          </a:bodyPr>
          <a:lstStyle/>
          <a:p>
            <a:pPr marL="0" indent="0" algn="l">
              <a:buNone/>
            </a:pPr>
            <a:r>
              <a:rPr lang="en-US" sz="1000" b="1" dirty="0">
                <a:solidFill>
                  <a:srgbClr val="1E2761"/>
                </a:solidFill>
                <a:latin typeface="Aptos" pitchFamily="34" charset="0"/>
                <a:ea typeface="Aptos" pitchFamily="34" charset="-122"/>
                <a:cs typeface="Aptos" pitchFamily="34" charset="-120"/>
              </a:rPr>
              <a:t>M3 date preserved in simulation</a:t>
            </a:r>
            <a:endParaRPr lang="en-US" sz="1000" dirty="0"/>
          </a:p>
        </p:txBody>
      </p:sp>
      <p:sp>
        <p:nvSpPr>
          <p:cNvPr id="21" name="Text 19"/>
          <p:cNvSpPr/>
          <p:nvPr/>
        </p:nvSpPr>
        <p:spPr>
          <a:xfrm>
            <a:off x="722376" y="5769864"/>
            <a:ext cx="10817352" cy="320040"/>
          </a:xfrm>
          <a:prstGeom prst="rect">
            <a:avLst/>
          </a:prstGeom>
          <a:noFill/>
          <a:ln/>
        </p:spPr>
        <p:txBody>
          <a:bodyPr wrap="square" lIns="0" tIns="0" rIns="0" bIns="0" rtlCol="0" anchor="ctr">
            <a:normAutofit/>
          </a:bodyPr>
          <a:lstStyle/>
          <a:p>
            <a:pPr marL="0" indent="0" algn="l">
              <a:buNone/>
            </a:pPr>
            <a:r>
              <a:rPr lang="en-US" sz="1400" dirty="0">
                <a:solidFill>
                  <a:srgbClr val="64748D"/>
                </a:solidFill>
                <a:latin typeface="Aptos" pitchFamily="34" charset="0"/>
                <a:ea typeface="Aptos" pitchFamily="34" charset="-122"/>
                <a:cs typeface="Aptos" pitchFamily="34" charset="-120"/>
              </a:rPr>
              <a:t>This example illustrates the product. The workflow and controls apply beyond this case.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01B35"/>
        </a:solidFill>
        <a:effectLst/>
      </p:bgPr>
    </p:bg>
    <p:spTree>
      <p:nvGrpSpPr>
        <p:cNvPr id="1" name=""/>
        <p:cNvGrpSpPr/>
        <p:nvPr/>
      </p:nvGrpSpPr>
      <p:grpSpPr>
        <a:xfrm>
          <a:off x="0" y="0"/>
          <a:ext cx="0" cy="0"/>
          <a:chOff x="0" y="0"/>
          <a:chExt cx="0" cy="0"/>
        </a:xfrm>
      </p:grpSpPr>
      <p:sp>
        <p:nvSpPr>
          <p:cNvPr id="2" name="Shape 0"/>
          <p:cNvSpPr/>
          <p:nvPr/>
        </p:nvSpPr>
        <p:spPr>
          <a:xfrm>
            <a:off x="9372600" y="-502920"/>
            <a:ext cx="3749040" cy="3840480"/>
          </a:xfrm>
          <a:prstGeom prst="roundRect">
            <a:avLst>
              <a:gd name="adj" fmla="val 46341"/>
            </a:avLst>
          </a:prstGeom>
          <a:solidFill>
            <a:srgbClr val="1A2C53"/>
          </a:solidFill>
          <a:ln w="12700">
            <a:solidFill>
              <a:srgbClr val="1A2C53">
                <a:alpha val="0"/>
              </a:srgbClr>
            </a:solidFill>
            <a:prstDash val="solid"/>
          </a:ln>
        </p:spPr>
      </p:sp>
      <p:sp>
        <p:nvSpPr>
          <p:cNvPr id="3" name="Shape 1"/>
          <p:cNvSpPr/>
          <p:nvPr/>
        </p:nvSpPr>
        <p:spPr>
          <a:xfrm>
            <a:off x="10241280" y="2103120"/>
            <a:ext cx="2834640" cy="2926080"/>
          </a:xfrm>
          <a:prstGeom prst="roundRect">
            <a:avLst>
              <a:gd name="adj" fmla="val 41935"/>
            </a:avLst>
          </a:prstGeom>
          <a:solidFill>
            <a:srgbClr val="24345D"/>
          </a:solidFill>
          <a:ln w="12700">
            <a:solidFill>
              <a:srgbClr val="24345D">
                <a:alpha val="0"/>
              </a:srgbClr>
            </a:solidFill>
            <a:prstDash val="solid"/>
          </a:ln>
        </p:spPr>
      </p:sp>
      <p:sp>
        <p:nvSpPr>
          <p:cNvPr id="4" name="Text 2"/>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CADCFC"/>
                </a:solidFill>
                <a:latin typeface="Aptos" pitchFamily="34" charset="0"/>
                <a:ea typeface="Aptos" pitchFamily="34" charset="-122"/>
                <a:cs typeface="Aptos" pitchFamily="34" charset="-120"/>
              </a:rPr>
              <a:t>CHANGEGUARD   /   MICROSOFT AGENT-A-THON   /   LEVEL 2</a:t>
            </a:r>
            <a:endParaRPr lang="en-US" sz="900" dirty="0"/>
          </a:p>
        </p:txBody>
      </p:sp>
      <p:sp>
        <p:nvSpPr>
          <p:cNvPr id="5" name="Text 3"/>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E8A33D"/>
                </a:solidFill>
                <a:latin typeface="Aptos" pitchFamily="34" charset="0"/>
                <a:ea typeface="Aptos" pitchFamily="34" charset="-122"/>
                <a:cs typeface="Aptos" pitchFamily="34" charset="-120"/>
              </a:rPr>
              <a:t>CHANGEGUARD IN ACTION</a:t>
            </a:r>
            <a:endParaRPr lang="en-US" sz="1000" dirty="0"/>
          </a:p>
        </p:txBody>
      </p:sp>
      <p:sp>
        <p:nvSpPr>
          <p:cNvPr id="6" name="Text 4"/>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CADCFC"/>
                </a:solidFill>
                <a:latin typeface="Aptos" pitchFamily="34" charset="0"/>
                <a:ea typeface="Aptos" pitchFamily="34" charset="-122"/>
                <a:cs typeface="Aptos" pitchFamily="34" charset="-120"/>
              </a:rPr>
              <a:t>07  /  09</a:t>
            </a:r>
            <a:endParaRPr lang="en-US" sz="900" dirty="0"/>
          </a:p>
        </p:txBody>
      </p:sp>
      <p:sp>
        <p:nvSpPr>
          <p:cNvPr id="7" name="Text 5"/>
          <p:cNvSpPr/>
          <p:nvPr/>
        </p:nvSpPr>
        <p:spPr>
          <a:xfrm>
            <a:off x="658368" y="1133856"/>
            <a:ext cx="10881360" cy="658368"/>
          </a:xfrm>
          <a:prstGeom prst="rect">
            <a:avLst/>
          </a:prstGeom>
          <a:noFill/>
          <a:ln/>
        </p:spPr>
        <p:txBody>
          <a:bodyPr wrap="square" lIns="0" tIns="0" rIns="0" bIns="0" rtlCol="0" anchor="ctr">
            <a:normAutofit/>
          </a:bodyPr>
          <a:lstStyle/>
          <a:p>
            <a:pPr marL="0" indent="0" algn="l">
              <a:buNone/>
            </a:pPr>
            <a:r>
              <a:rPr lang="en-US" sz="3200" b="1" dirty="0">
                <a:solidFill>
                  <a:srgbClr val="FFFFFF"/>
                </a:solidFill>
                <a:latin typeface="Georgia" pitchFamily="34" charset="0"/>
                <a:ea typeface="Georgia" pitchFamily="34" charset="-122"/>
                <a:cs typeface="Georgia" pitchFamily="34" charset="-120"/>
              </a:rPr>
              <a:t>From the agent to an actual recorded decision</a:t>
            </a:r>
            <a:endParaRPr lang="en-US" sz="3200" dirty="0"/>
          </a:p>
        </p:txBody>
      </p:sp>
      <p:sp>
        <p:nvSpPr>
          <p:cNvPr id="8" name="Text 6"/>
          <p:cNvSpPr/>
          <p:nvPr/>
        </p:nvSpPr>
        <p:spPr>
          <a:xfrm>
            <a:off x="685800" y="1837944"/>
            <a:ext cx="10671048" cy="384048"/>
          </a:xfrm>
          <a:prstGeom prst="rect">
            <a:avLst/>
          </a:prstGeom>
          <a:noFill/>
          <a:ln/>
        </p:spPr>
        <p:txBody>
          <a:bodyPr wrap="square" lIns="0" tIns="0" rIns="0" bIns="0" rtlCol="0" anchor="ctr">
            <a:normAutofit/>
          </a:bodyPr>
          <a:lstStyle/>
          <a:p>
            <a:pPr marL="0" indent="0" algn="l">
              <a:buNone/>
            </a:pPr>
            <a:r>
              <a:rPr lang="en-US" sz="1500" dirty="0">
                <a:solidFill>
                  <a:srgbClr val="CADCFC"/>
                </a:solidFill>
                <a:latin typeface="Aptos" pitchFamily="34" charset="0"/>
                <a:ea typeface="Aptos" pitchFamily="34" charset="-122"/>
                <a:cs typeface="Aptos" pitchFamily="34" charset="-120"/>
              </a:rPr>
              <a:t>Now show the real saved conversation, reviewer form, execution result and audit trail.</a:t>
            </a:r>
            <a:endParaRPr lang="en-US" sz="1500" dirty="0"/>
          </a:p>
        </p:txBody>
      </p:sp>
      <p:sp>
        <p:nvSpPr>
          <p:cNvPr id="9" name="Shape 7"/>
          <p:cNvSpPr/>
          <p:nvPr/>
        </p:nvSpPr>
        <p:spPr>
          <a:xfrm>
            <a:off x="676656" y="2441448"/>
            <a:ext cx="6675120" cy="3026664"/>
          </a:xfrm>
          <a:prstGeom prst="roundRect">
            <a:avLst>
              <a:gd name="adj" fmla="val 4834"/>
            </a:avLst>
          </a:prstGeom>
          <a:solidFill>
            <a:srgbClr val="EDF2FA"/>
          </a:solidFill>
          <a:ln w="12700">
            <a:solidFill>
              <a:srgbClr val="EDF2FA">
                <a:alpha val="0"/>
              </a:srgbClr>
            </a:solidFill>
            <a:prstDash val="solid"/>
          </a:ln>
        </p:spPr>
      </p:sp>
      <p:sp>
        <p:nvSpPr>
          <p:cNvPr id="11" name="Shape 8"/>
          <p:cNvSpPr/>
          <p:nvPr/>
        </p:nvSpPr>
        <p:spPr>
          <a:xfrm>
            <a:off x="7571232" y="2441448"/>
            <a:ext cx="3877056" cy="3026664"/>
          </a:xfrm>
          <a:prstGeom prst="roundRect">
            <a:avLst>
              <a:gd name="adj" fmla="val 5136"/>
            </a:avLst>
          </a:prstGeom>
          <a:solidFill>
            <a:srgbClr val="263456"/>
          </a:solidFill>
          <a:ln w="12700">
            <a:solidFill>
              <a:srgbClr val="263456">
                <a:alpha val="0"/>
              </a:srgbClr>
            </a:solidFill>
            <a:prstDash val="solid"/>
          </a:ln>
        </p:spPr>
      </p:sp>
      <p:sp>
        <p:nvSpPr>
          <p:cNvPr id="12" name="Text 9"/>
          <p:cNvSpPr/>
          <p:nvPr/>
        </p:nvSpPr>
        <p:spPr>
          <a:xfrm>
            <a:off x="7836408" y="2651760"/>
            <a:ext cx="301752" cy="246888"/>
          </a:xfrm>
          <a:prstGeom prst="rect">
            <a:avLst/>
          </a:prstGeom>
          <a:noFill/>
          <a:ln/>
        </p:spPr>
        <p:txBody>
          <a:bodyPr wrap="square" lIns="0" tIns="0" rIns="0" bIns="0" rtlCol="0" anchor="ctr">
            <a:normAutofit/>
          </a:bodyPr>
          <a:lstStyle/>
          <a:p>
            <a:pPr marL="0" indent="0" algn="l">
              <a:buNone/>
            </a:pPr>
            <a:r>
              <a:rPr lang="en-US" sz="1200" b="1" dirty="0">
                <a:solidFill>
                  <a:srgbClr val="E8A33D"/>
                </a:solidFill>
                <a:latin typeface="Aptos" pitchFamily="34" charset="0"/>
                <a:ea typeface="Aptos" pitchFamily="34" charset="-122"/>
                <a:cs typeface="Aptos" pitchFamily="34" charset="-120"/>
              </a:rPr>
              <a:t>1</a:t>
            </a:r>
            <a:endParaRPr lang="en-US" sz="1200" dirty="0"/>
          </a:p>
        </p:txBody>
      </p:sp>
      <p:sp>
        <p:nvSpPr>
          <p:cNvPr id="13" name="Text 10"/>
          <p:cNvSpPr/>
          <p:nvPr/>
        </p:nvSpPr>
        <p:spPr>
          <a:xfrm>
            <a:off x="8238744" y="2651760"/>
            <a:ext cx="2862072" cy="27432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Agent: assess + save</a:t>
            </a:r>
            <a:endParaRPr lang="en-US" sz="1400" dirty="0"/>
          </a:p>
        </p:txBody>
      </p:sp>
      <p:sp>
        <p:nvSpPr>
          <p:cNvPr id="14" name="Text 11"/>
          <p:cNvSpPr/>
          <p:nvPr/>
        </p:nvSpPr>
        <p:spPr>
          <a:xfrm>
            <a:off x="7836408" y="3264408"/>
            <a:ext cx="301752" cy="246888"/>
          </a:xfrm>
          <a:prstGeom prst="rect">
            <a:avLst/>
          </a:prstGeom>
          <a:noFill/>
          <a:ln/>
        </p:spPr>
        <p:txBody>
          <a:bodyPr wrap="square" lIns="0" tIns="0" rIns="0" bIns="0" rtlCol="0" anchor="ctr">
            <a:normAutofit/>
          </a:bodyPr>
          <a:lstStyle/>
          <a:p>
            <a:pPr marL="0" indent="0" algn="l">
              <a:buNone/>
            </a:pPr>
            <a:r>
              <a:rPr lang="en-US" sz="1200" b="1" dirty="0">
                <a:solidFill>
                  <a:srgbClr val="E8A33D"/>
                </a:solidFill>
                <a:latin typeface="Aptos" pitchFamily="34" charset="0"/>
                <a:ea typeface="Aptos" pitchFamily="34" charset="-122"/>
                <a:cs typeface="Aptos" pitchFamily="34" charset="-120"/>
              </a:rPr>
              <a:t>2</a:t>
            </a:r>
            <a:endParaRPr lang="en-US" sz="1200" dirty="0"/>
          </a:p>
        </p:txBody>
      </p:sp>
      <p:sp>
        <p:nvSpPr>
          <p:cNvPr id="15" name="Text 12"/>
          <p:cNvSpPr/>
          <p:nvPr/>
        </p:nvSpPr>
        <p:spPr>
          <a:xfrm>
            <a:off x="8238744" y="3264408"/>
            <a:ext cx="2862072" cy="27432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Reviewer: recorded approval</a:t>
            </a:r>
            <a:endParaRPr lang="en-US" sz="1400" dirty="0"/>
          </a:p>
        </p:txBody>
      </p:sp>
      <p:sp>
        <p:nvSpPr>
          <p:cNvPr id="16" name="Text 13"/>
          <p:cNvSpPr/>
          <p:nvPr/>
        </p:nvSpPr>
        <p:spPr>
          <a:xfrm>
            <a:off x="7836408" y="3877056"/>
            <a:ext cx="301752" cy="246888"/>
          </a:xfrm>
          <a:prstGeom prst="rect">
            <a:avLst/>
          </a:prstGeom>
          <a:noFill/>
          <a:ln/>
        </p:spPr>
        <p:txBody>
          <a:bodyPr wrap="square" lIns="0" tIns="0" rIns="0" bIns="0" rtlCol="0" anchor="ctr">
            <a:normAutofit/>
          </a:bodyPr>
          <a:lstStyle/>
          <a:p>
            <a:pPr marL="0" indent="0" algn="l">
              <a:buNone/>
            </a:pPr>
            <a:r>
              <a:rPr lang="en-US" sz="1200" b="1" dirty="0">
                <a:solidFill>
                  <a:srgbClr val="E8A33D"/>
                </a:solidFill>
                <a:latin typeface="Aptos" pitchFamily="34" charset="0"/>
                <a:ea typeface="Aptos" pitchFamily="34" charset="-122"/>
                <a:cs typeface="Aptos" pitchFamily="34" charset="-120"/>
              </a:rPr>
              <a:t>3</a:t>
            </a:r>
            <a:endParaRPr lang="en-US" sz="1200" dirty="0"/>
          </a:p>
        </p:txBody>
      </p:sp>
      <p:sp>
        <p:nvSpPr>
          <p:cNvPr id="17" name="Text 14"/>
          <p:cNvSpPr/>
          <p:nvPr/>
        </p:nvSpPr>
        <p:spPr>
          <a:xfrm>
            <a:off x="8238744" y="3877056"/>
            <a:ext cx="2862072" cy="27432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Flow: create work items</a:t>
            </a:r>
            <a:endParaRPr lang="en-US" sz="1400" dirty="0"/>
          </a:p>
        </p:txBody>
      </p:sp>
      <p:sp>
        <p:nvSpPr>
          <p:cNvPr id="18" name="Text 15"/>
          <p:cNvSpPr/>
          <p:nvPr/>
        </p:nvSpPr>
        <p:spPr>
          <a:xfrm>
            <a:off x="7836408" y="4489704"/>
            <a:ext cx="301752" cy="246888"/>
          </a:xfrm>
          <a:prstGeom prst="rect">
            <a:avLst/>
          </a:prstGeom>
          <a:noFill/>
          <a:ln/>
        </p:spPr>
        <p:txBody>
          <a:bodyPr wrap="square" lIns="0" tIns="0" rIns="0" bIns="0" rtlCol="0" anchor="ctr">
            <a:normAutofit/>
          </a:bodyPr>
          <a:lstStyle/>
          <a:p>
            <a:pPr marL="0" indent="0" algn="l">
              <a:buNone/>
            </a:pPr>
            <a:r>
              <a:rPr lang="en-US" sz="1200" b="1" dirty="0">
                <a:solidFill>
                  <a:srgbClr val="E8A33D"/>
                </a:solidFill>
                <a:latin typeface="Aptos" pitchFamily="34" charset="0"/>
                <a:ea typeface="Aptos" pitchFamily="34" charset="-122"/>
                <a:cs typeface="Aptos" pitchFamily="34" charset="-120"/>
              </a:rPr>
              <a:t>4</a:t>
            </a:r>
            <a:endParaRPr lang="en-US" sz="1200" dirty="0"/>
          </a:p>
        </p:txBody>
      </p:sp>
      <p:sp>
        <p:nvSpPr>
          <p:cNvPr id="19" name="Text 16"/>
          <p:cNvSpPr/>
          <p:nvPr/>
        </p:nvSpPr>
        <p:spPr>
          <a:xfrm>
            <a:off x="8238744" y="4489704"/>
            <a:ext cx="2862072" cy="27432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Dataverse: verify audit</a:t>
            </a:r>
            <a:endParaRPr lang="en-US" sz="1400" dirty="0"/>
          </a:p>
        </p:txBody>
      </p:sp>
      <p:sp>
        <p:nvSpPr>
          <p:cNvPr id="20" name="Text 17"/>
          <p:cNvSpPr/>
          <p:nvPr/>
        </p:nvSpPr>
        <p:spPr>
          <a:xfrm>
            <a:off x="877824" y="5650992"/>
            <a:ext cx="6400800" cy="201168"/>
          </a:xfrm>
          <a:prstGeom prst="rect">
            <a:avLst/>
          </a:prstGeom>
          <a:noFill/>
          <a:ln/>
        </p:spPr>
        <p:txBody>
          <a:bodyPr wrap="square" lIns="0" tIns="0" rIns="0" bIns="0" rtlCol="0" anchor="ctr">
            <a:normAutofit/>
          </a:bodyPr>
          <a:lstStyle/>
          <a:p>
            <a:pPr marL="0" indent="0" algn="l">
              <a:buNone/>
            </a:pPr>
            <a:r>
              <a:rPr lang="en-US" sz="1000" b="1" dirty="0">
                <a:solidFill>
                  <a:srgbClr val="CADCFC"/>
                </a:solidFill>
                <a:latin typeface="Aptos" pitchFamily="34" charset="0"/>
                <a:ea typeface="Aptos" pitchFamily="34" charset="-122"/>
                <a:cs typeface="Aptos" pitchFamily="34" charset="-120"/>
              </a:rPr>
              <a:t>ACTUAL POWER APPS CAPTURE  /  BEFORE APPROVAL</a:t>
            </a:r>
            <a:endParaRPr lang="en-US" sz="1000" dirty="0"/>
          </a:p>
        </p:txBody>
      </p:sp>
      <p:sp>
        <p:nvSpPr>
          <p:cNvPr id="21" name="Text 18"/>
          <p:cNvSpPr/>
          <p:nvPr/>
        </p:nvSpPr>
        <p:spPr>
          <a:xfrm>
            <a:off x="704088" y="6044184"/>
            <a:ext cx="10881360" cy="219456"/>
          </a:xfrm>
          <a:prstGeom prst="rect">
            <a:avLst/>
          </a:prstGeom>
          <a:noFill/>
          <a:ln/>
        </p:spPr>
        <p:txBody>
          <a:bodyPr wrap="square" lIns="0" tIns="0" rIns="0" bIns="0" rtlCol="0" anchor="ctr">
            <a:normAutofit/>
          </a:bodyPr>
          <a:lstStyle/>
          <a:p>
            <a:pPr marL="0" indent="0" algn="l">
              <a:buNone/>
            </a:pPr>
            <a:r>
              <a:rPr lang="en-US" sz="1200" dirty="0">
                <a:solidFill>
                  <a:srgbClr val="CADCFC"/>
                </a:solidFill>
                <a:latin typeface="Aptos" pitchFamily="34" charset="0"/>
                <a:ea typeface="Aptos" pitchFamily="34" charset="-122"/>
                <a:cs typeface="Aptos" pitchFamily="34" charset="-120"/>
              </a:rPr>
              <a:t>The record is already Executed. Present this as a walkthrough, not a fresh approval.</a:t>
            </a:r>
            <a:endParaRPr lang="en-US" sz="1200" dirty="0"/>
          </a:p>
        </p:txBody>
      </p:sp>
      <p:pic>
        <p:nvPicPr>
          <p:cNvPr id="23" name="Picture 22">
            <a:extLst>
              <a:ext uri="{FF2B5EF4-FFF2-40B4-BE49-F238E27FC236}">
                <a16:creationId xmlns:a16="http://schemas.microsoft.com/office/drawing/2014/main" id="{B0256265-00F1-A127-0FF4-230E1204B8F1}"/>
              </a:ext>
            </a:extLst>
          </p:cNvPr>
          <p:cNvPicPr>
            <a:picLocks noChangeAspect="1"/>
          </p:cNvPicPr>
          <p:nvPr/>
        </p:nvPicPr>
        <p:blipFill>
          <a:blip r:embed="rId3"/>
          <a:stretch>
            <a:fillRect/>
          </a:stretch>
        </p:blipFill>
        <p:spPr>
          <a:xfrm>
            <a:off x="772160" y="2578608"/>
            <a:ext cx="6484112" cy="26864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01B35"/>
        </a:solidFill>
        <a:effectLst/>
      </p:bgPr>
    </p:bg>
    <p:spTree>
      <p:nvGrpSpPr>
        <p:cNvPr id="1" name=""/>
        <p:cNvGrpSpPr/>
        <p:nvPr/>
      </p:nvGrpSpPr>
      <p:grpSpPr>
        <a:xfrm>
          <a:off x="0" y="0"/>
          <a:ext cx="0" cy="0"/>
          <a:chOff x="0" y="0"/>
          <a:chExt cx="0" cy="0"/>
        </a:xfrm>
      </p:grpSpPr>
      <p:sp>
        <p:nvSpPr>
          <p:cNvPr id="2" name="Shape 0"/>
          <p:cNvSpPr/>
          <p:nvPr/>
        </p:nvSpPr>
        <p:spPr>
          <a:xfrm>
            <a:off x="9372600" y="-502920"/>
            <a:ext cx="3749040" cy="3840480"/>
          </a:xfrm>
          <a:prstGeom prst="roundRect">
            <a:avLst>
              <a:gd name="adj" fmla="val 46341"/>
            </a:avLst>
          </a:prstGeom>
          <a:solidFill>
            <a:srgbClr val="1A2C53"/>
          </a:solidFill>
          <a:ln w="12700">
            <a:solidFill>
              <a:srgbClr val="1A2C53">
                <a:alpha val="0"/>
              </a:srgbClr>
            </a:solidFill>
            <a:prstDash val="solid"/>
          </a:ln>
        </p:spPr>
      </p:sp>
      <p:sp>
        <p:nvSpPr>
          <p:cNvPr id="3" name="Shape 1"/>
          <p:cNvSpPr/>
          <p:nvPr/>
        </p:nvSpPr>
        <p:spPr>
          <a:xfrm>
            <a:off x="10241280" y="2103120"/>
            <a:ext cx="2834640" cy="2926080"/>
          </a:xfrm>
          <a:prstGeom prst="roundRect">
            <a:avLst>
              <a:gd name="adj" fmla="val 41935"/>
            </a:avLst>
          </a:prstGeom>
          <a:solidFill>
            <a:srgbClr val="24345D"/>
          </a:solidFill>
          <a:ln w="12700">
            <a:solidFill>
              <a:srgbClr val="24345D">
                <a:alpha val="0"/>
              </a:srgbClr>
            </a:solidFill>
            <a:prstDash val="solid"/>
          </a:ln>
        </p:spPr>
      </p:sp>
      <p:sp>
        <p:nvSpPr>
          <p:cNvPr id="4" name="Text 2"/>
          <p:cNvSpPr/>
          <p:nvPr/>
        </p:nvSpPr>
        <p:spPr>
          <a:xfrm>
            <a:off x="658368" y="310896"/>
            <a:ext cx="9875520" cy="164592"/>
          </a:xfrm>
          <a:prstGeom prst="rect">
            <a:avLst/>
          </a:prstGeom>
          <a:noFill/>
          <a:ln/>
        </p:spPr>
        <p:txBody>
          <a:bodyPr wrap="square" lIns="0" tIns="0" rIns="0" bIns="0" rtlCol="0" anchor="ctr">
            <a:normAutofit/>
          </a:bodyPr>
          <a:lstStyle/>
          <a:p>
            <a:pPr marL="0" indent="0" algn="l">
              <a:buNone/>
            </a:pPr>
            <a:r>
              <a:rPr lang="en-US" sz="900" b="1" kern="0" spc="40" dirty="0">
                <a:solidFill>
                  <a:srgbClr val="CADCFC"/>
                </a:solidFill>
                <a:latin typeface="Aptos" pitchFamily="34" charset="0"/>
                <a:ea typeface="Aptos" pitchFamily="34" charset="-122"/>
                <a:cs typeface="Aptos" pitchFamily="34" charset="-120"/>
              </a:rPr>
              <a:t>CHANGEGUARD   /   MICROSOFT AGENT-A-THON   /   LEVEL 2</a:t>
            </a:r>
            <a:endParaRPr lang="en-US" sz="900" dirty="0"/>
          </a:p>
        </p:txBody>
      </p:sp>
      <p:sp>
        <p:nvSpPr>
          <p:cNvPr id="5" name="Text 3"/>
          <p:cNvSpPr/>
          <p:nvPr/>
        </p:nvSpPr>
        <p:spPr>
          <a:xfrm>
            <a:off x="658368" y="758952"/>
            <a:ext cx="10058400" cy="182880"/>
          </a:xfrm>
          <a:prstGeom prst="rect">
            <a:avLst/>
          </a:prstGeom>
          <a:noFill/>
          <a:ln/>
        </p:spPr>
        <p:txBody>
          <a:bodyPr wrap="square" lIns="0" tIns="0" rIns="0" bIns="0" rtlCol="0" anchor="ctr">
            <a:normAutofit/>
          </a:bodyPr>
          <a:lstStyle/>
          <a:p>
            <a:pPr marL="0" indent="0" algn="l">
              <a:buNone/>
            </a:pPr>
            <a:r>
              <a:rPr lang="en-US" sz="1000" b="1" kern="0" spc="110" dirty="0">
                <a:solidFill>
                  <a:srgbClr val="E8A33D"/>
                </a:solidFill>
                <a:latin typeface="Aptos" pitchFamily="34" charset="0"/>
                <a:ea typeface="Aptos" pitchFamily="34" charset="-122"/>
                <a:cs typeface="Aptos" pitchFamily="34" charset="-120"/>
              </a:rPr>
              <a:t>THANK YOU</a:t>
            </a:r>
            <a:endParaRPr lang="en-US" sz="1000" dirty="0"/>
          </a:p>
        </p:txBody>
      </p:sp>
      <p:sp>
        <p:nvSpPr>
          <p:cNvPr id="6" name="Text 4"/>
          <p:cNvSpPr/>
          <p:nvPr/>
        </p:nvSpPr>
        <p:spPr>
          <a:xfrm>
            <a:off x="10863072" y="6437376"/>
            <a:ext cx="658368" cy="182880"/>
          </a:xfrm>
          <a:prstGeom prst="rect">
            <a:avLst/>
          </a:prstGeom>
          <a:noFill/>
          <a:ln/>
        </p:spPr>
        <p:txBody>
          <a:bodyPr wrap="square" lIns="0" tIns="0" rIns="0" bIns="0" rtlCol="0" anchor="ctr">
            <a:normAutofit/>
          </a:bodyPr>
          <a:lstStyle/>
          <a:p>
            <a:pPr marL="0" indent="0" algn="r">
              <a:buNone/>
            </a:pPr>
            <a:r>
              <a:rPr lang="en-US" sz="900" dirty="0">
                <a:solidFill>
                  <a:srgbClr val="CADCFC"/>
                </a:solidFill>
                <a:latin typeface="Aptos" pitchFamily="34" charset="0"/>
                <a:ea typeface="Aptos" pitchFamily="34" charset="-122"/>
                <a:cs typeface="Aptos" pitchFamily="34" charset="-120"/>
              </a:rPr>
              <a:t>09  /  09</a:t>
            </a:r>
            <a:endParaRPr lang="en-US" sz="900" dirty="0"/>
          </a:p>
        </p:txBody>
      </p:sp>
      <p:sp>
        <p:nvSpPr>
          <p:cNvPr id="7" name="Shape 5"/>
          <p:cNvSpPr/>
          <p:nvPr/>
        </p:nvSpPr>
        <p:spPr>
          <a:xfrm>
            <a:off x="704088" y="1243584"/>
            <a:ext cx="3749040" cy="356616"/>
          </a:xfrm>
          <a:prstGeom prst="roundRect">
            <a:avLst>
              <a:gd name="adj" fmla="val 43590"/>
            </a:avLst>
          </a:prstGeom>
          <a:solidFill>
            <a:srgbClr val="263456"/>
          </a:solidFill>
          <a:ln w="12700">
            <a:solidFill>
              <a:srgbClr val="263456">
                <a:alpha val="0"/>
              </a:srgbClr>
            </a:solidFill>
            <a:prstDash val="solid"/>
          </a:ln>
        </p:spPr>
      </p:sp>
      <p:sp>
        <p:nvSpPr>
          <p:cNvPr id="8" name="Text 6"/>
          <p:cNvSpPr/>
          <p:nvPr/>
        </p:nvSpPr>
        <p:spPr>
          <a:xfrm>
            <a:off x="832104" y="1312164"/>
            <a:ext cx="3502152" cy="201168"/>
          </a:xfrm>
          <a:prstGeom prst="rect">
            <a:avLst/>
          </a:prstGeom>
          <a:noFill/>
          <a:ln/>
        </p:spPr>
        <p:txBody>
          <a:bodyPr wrap="square" lIns="0" tIns="0" rIns="0" bIns="0" rtlCol="0" anchor="ctr">
            <a:normAutofit/>
          </a:bodyPr>
          <a:lstStyle/>
          <a:p>
            <a:pPr marL="0" indent="0" algn="l">
              <a:buNone/>
            </a:pPr>
            <a:r>
              <a:rPr lang="en-US" sz="1000" b="1" dirty="0">
                <a:solidFill>
                  <a:srgbClr val="E8A33D"/>
                </a:solidFill>
                <a:latin typeface="Aptos" pitchFamily="34" charset="0"/>
                <a:ea typeface="Aptos" pitchFamily="34" charset="-122"/>
                <a:cs typeface="Aptos" pitchFamily="34" charset="-120"/>
              </a:rPr>
              <a:t>MICROSOFT AGENT-A-THON  /  LEVEL 2</a:t>
            </a:r>
            <a:endParaRPr lang="en-US" sz="1000" dirty="0"/>
          </a:p>
        </p:txBody>
      </p:sp>
      <p:sp>
        <p:nvSpPr>
          <p:cNvPr id="9" name="Text 7"/>
          <p:cNvSpPr/>
          <p:nvPr/>
        </p:nvSpPr>
        <p:spPr>
          <a:xfrm>
            <a:off x="676656" y="1901952"/>
            <a:ext cx="10607040" cy="1033272"/>
          </a:xfrm>
          <a:prstGeom prst="rect">
            <a:avLst/>
          </a:prstGeom>
          <a:noFill/>
          <a:ln/>
        </p:spPr>
        <p:txBody>
          <a:bodyPr wrap="square" lIns="0" tIns="0" rIns="0" bIns="0" rtlCol="0" anchor="ctr">
            <a:normAutofit/>
          </a:bodyPr>
          <a:lstStyle/>
          <a:p>
            <a:pPr marL="0" indent="0" algn="l">
              <a:buNone/>
            </a:pPr>
            <a:r>
              <a:rPr lang="en-US" sz="6300" b="1" dirty="0">
                <a:solidFill>
                  <a:srgbClr val="FFFFFF"/>
                </a:solidFill>
                <a:latin typeface="Georgia" pitchFamily="34" charset="0"/>
                <a:ea typeface="Georgia" pitchFamily="34" charset="-122"/>
                <a:cs typeface="Georgia" pitchFamily="34" charset="-120"/>
              </a:rPr>
              <a:t>Thank you.</a:t>
            </a:r>
            <a:endParaRPr lang="en-US" sz="6300" dirty="0"/>
          </a:p>
        </p:txBody>
      </p:sp>
      <p:sp>
        <p:nvSpPr>
          <p:cNvPr id="10" name="Text 8"/>
          <p:cNvSpPr/>
          <p:nvPr/>
        </p:nvSpPr>
        <p:spPr>
          <a:xfrm>
            <a:off x="722376" y="3136392"/>
            <a:ext cx="10195560" cy="694944"/>
          </a:xfrm>
          <a:prstGeom prst="rect">
            <a:avLst/>
          </a:prstGeom>
          <a:noFill/>
          <a:ln/>
        </p:spPr>
        <p:txBody>
          <a:bodyPr wrap="square" lIns="0" tIns="0" rIns="0" bIns="0" rtlCol="0" anchor="ctr">
            <a:normAutofit/>
          </a:bodyPr>
          <a:lstStyle/>
          <a:p>
            <a:pPr marL="0" indent="0" algn="l">
              <a:buNone/>
            </a:pPr>
            <a:r>
              <a:rPr lang="en-US" sz="3600" b="1" dirty="0">
                <a:solidFill>
                  <a:srgbClr val="CADCFC"/>
                </a:solidFill>
                <a:latin typeface="Aptos" pitchFamily="34" charset="0"/>
                <a:ea typeface="Aptos" pitchFamily="34" charset="-122"/>
                <a:cs typeface="Aptos" pitchFamily="34" charset="-120"/>
              </a:rPr>
              <a:t>ChangeGuard</a:t>
            </a:r>
            <a:endParaRPr lang="en-US" sz="3600" dirty="0"/>
          </a:p>
        </p:txBody>
      </p:sp>
      <p:sp>
        <p:nvSpPr>
          <p:cNvPr id="11" name="Text 9"/>
          <p:cNvSpPr/>
          <p:nvPr/>
        </p:nvSpPr>
        <p:spPr>
          <a:xfrm>
            <a:off x="740664" y="3977640"/>
            <a:ext cx="9857232" cy="658368"/>
          </a:xfrm>
          <a:prstGeom prst="rect">
            <a:avLst/>
          </a:prstGeom>
          <a:noFill/>
          <a:ln/>
        </p:spPr>
        <p:txBody>
          <a:bodyPr wrap="square" lIns="0" tIns="0" rIns="0" bIns="0" rtlCol="0" anchor="ctr">
            <a:normAutofit/>
          </a:bodyPr>
          <a:lstStyle/>
          <a:p>
            <a:pPr marL="0" indent="0" algn="l">
              <a:buNone/>
            </a:pPr>
            <a:r>
              <a:rPr lang="en-US" sz="2300" dirty="0">
                <a:solidFill>
                  <a:srgbClr val="FFFFFF"/>
                </a:solidFill>
                <a:latin typeface="Aptos" pitchFamily="34" charset="0"/>
                <a:ea typeface="Aptos" pitchFamily="34" charset="-122"/>
                <a:cs typeface="Aptos" pitchFamily="34" charset="-120"/>
              </a:rPr>
              <a:t>From an unexpected change to a decision you can defend.</a:t>
            </a:r>
            <a:endParaRPr lang="en-US" sz="2300" dirty="0"/>
          </a:p>
        </p:txBody>
      </p:sp>
      <p:sp>
        <p:nvSpPr>
          <p:cNvPr id="12" name="Shape 10"/>
          <p:cNvSpPr/>
          <p:nvPr/>
        </p:nvSpPr>
        <p:spPr>
          <a:xfrm>
            <a:off x="713232" y="5102352"/>
            <a:ext cx="10716768" cy="603504"/>
          </a:xfrm>
          <a:prstGeom prst="roundRect">
            <a:avLst>
              <a:gd name="adj" fmla="val 24242"/>
            </a:avLst>
          </a:prstGeom>
          <a:solidFill>
            <a:srgbClr val="263456"/>
          </a:solidFill>
          <a:ln w="12700">
            <a:solidFill>
              <a:srgbClr val="263456">
                <a:alpha val="0"/>
              </a:srgbClr>
            </a:solidFill>
            <a:prstDash val="solid"/>
          </a:ln>
        </p:spPr>
      </p:sp>
      <p:sp>
        <p:nvSpPr>
          <p:cNvPr id="13" name="Text 11"/>
          <p:cNvSpPr/>
          <p:nvPr/>
        </p:nvSpPr>
        <p:spPr>
          <a:xfrm>
            <a:off x="987552" y="5294376"/>
            <a:ext cx="10177272" cy="256032"/>
          </a:xfrm>
          <a:prstGeom prst="rect">
            <a:avLst/>
          </a:prstGeom>
          <a:noFill/>
          <a:ln/>
        </p:spPr>
        <p:txBody>
          <a:bodyPr wrap="square" lIns="0" tIns="0" rIns="0" bIns="0" rtlCol="0" anchor="ctr">
            <a:normAutofit/>
          </a:bodyPr>
          <a:lstStyle/>
          <a:p>
            <a:pPr marL="0" indent="0" algn="l">
              <a:buNone/>
            </a:pPr>
            <a:r>
              <a:rPr lang="en-US" sz="1500" b="1" dirty="0">
                <a:solidFill>
                  <a:srgbClr val="E8A33D"/>
                </a:solidFill>
                <a:latin typeface="Aptos" pitchFamily="34" charset="0"/>
                <a:ea typeface="Aptos" pitchFamily="34" charset="-122"/>
                <a:cs typeface="Aptos" pitchFamily="34" charset="-120"/>
              </a:rPr>
              <a:t>THE AGENT TALKS.  THE FLOWS DECIDE.  A PERSON APPROVES.</a:t>
            </a:r>
            <a:endParaRPr lang="en-US" sz="1500" dirty="0"/>
          </a:p>
        </p:txBody>
      </p:sp>
      <p:sp>
        <p:nvSpPr>
          <p:cNvPr id="14" name="Text 12"/>
          <p:cNvSpPr/>
          <p:nvPr/>
        </p:nvSpPr>
        <p:spPr>
          <a:xfrm>
            <a:off x="768096" y="6053328"/>
            <a:ext cx="10497312" cy="219456"/>
          </a:xfrm>
          <a:prstGeom prst="rect">
            <a:avLst/>
          </a:prstGeom>
          <a:noFill/>
          <a:ln/>
        </p:spPr>
        <p:txBody>
          <a:bodyPr wrap="square" lIns="0" tIns="0" rIns="0" bIns="0" rtlCol="0" anchor="ctr">
            <a:normAutofit/>
          </a:bodyPr>
          <a:lstStyle/>
          <a:p>
            <a:pPr marL="0" indent="0" algn="l">
              <a:buNone/>
            </a:pPr>
            <a:r>
              <a:rPr lang="en-US" sz="1100" dirty="0">
                <a:solidFill>
                  <a:srgbClr val="CADCFC"/>
                </a:solidFill>
                <a:latin typeface="Aptos" pitchFamily="34" charset="0"/>
                <a:ea typeface="Aptos" pitchFamily="34" charset="-122"/>
                <a:cs typeface="Aptos" pitchFamily="34" charset="-120"/>
              </a:rPr>
              <a:t>Synthetic demonstration  •  Microsoft Copilot Studio + Power Automate + Dataverse + Power Apps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774</Words>
  <Application>Microsoft Office PowerPoint</Application>
  <PresentationFormat>Widescreen</PresentationFormat>
  <Paragraphs>121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ChangeGuard | Project Recovery Control Tower</dc:title>
  <dc:subject>Microsoft Agent-a-thon Level 2 three-minute submission</dc:subject>
  <dc:creator>ChangeGuard</dc:creator>
  <cp:lastModifiedBy>ChangeGuard</cp:lastModifiedBy>
  <cp:revision>3</cp:revision>
  <dcterms:created xsi:type="dcterms:W3CDTF">2026-09-22T23:31:05Z</dcterms:created>
  <dcterms:modified xsi:type="dcterms:W3CDTF">2026-09-23T05:01:20Z</dcterms:modified>
</cp:coreProperties>
</file>